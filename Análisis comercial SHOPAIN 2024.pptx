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12"/>
  </p:notesMasterIdLst>
  <p:handoutMasterIdLst>
    <p:handoutMasterId r:id="rId13"/>
  </p:handoutMasterIdLst>
  <p:sldIdLst>
    <p:sldId id="257" r:id="rId2"/>
    <p:sldId id="260" r:id="rId3"/>
    <p:sldId id="258" r:id="rId4"/>
    <p:sldId id="261" r:id="rId5"/>
    <p:sldId id="263" r:id="rId6"/>
    <p:sldId id="264" r:id="rId7"/>
    <p:sldId id="265" r:id="rId8"/>
    <p:sldId id="266" r:id="rId9"/>
    <p:sldId id="259" r:id="rId10"/>
    <p:sldId id="262" r:id="rId11"/>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notesViewPr>
    <p:cSldViewPr snapToGrid="0">
      <p:cViewPr varScale="1">
        <p:scale>
          <a:sx n="123" d="100"/>
          <a:sy n="123" d="100"/>
        </p:scale>
        <p:origin x="497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648A3544-385A-47A9-AAA5-ECDE6612A11F}" type="datetime1">
              <a:rPr lang="es-ES" smtClean="0"/>
              <a:t>30/03/2026</a:t>
            </a:fld>
            <a:endParaRPr lang="en-US" dirty="0"/>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Marcador de posición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D92CB86-0DB9-4A70-B1CF-B23508471F6B}" type="slidenum">
              <a:rPr lang="en-US" smtClean="0"/>
              <a:t>‹Nº›</a:t>
            </a:fld>
            <a:endParaRPr lang="en-US"/>
          </a:p>
        </p:txBody>
      </p:sp>
    </p:spTree>
    <p:extLst>
      <p:ext uri="{BB962C8B-B14F-4D97-AF65-F5344CB8AC3E}">
        <p14:creationId xmlns:p14="http://schemas.microsoft.com/office/powerpoint/2010/main" val="663557642"/>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F73BE05-6C7D-468D-B433-DDFC4F0819BE}" type="datetime1">
              <a:rPr lang="es-ES" smtClean="0"/>
              <a:t>30/03/2026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
              <a:t>Haga clic para modificar los estilos de texto del patrón</a:t>
            </a:r>
            <a:endParaRPr lang="en-US"/>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2B151B-D7D1-48E5-8230-5AADBC794F88}" type="slidenum">
              <a:rPr lang="en-US" smtClean="0"/>
              <a:t>‹Nº›</a:t>
            </a:fld>
            <a:endParaRPr lang="en-US"/>
          </a:p>
        </p:txBody>
      </p:sp>
    </p:spTree>
    <p:extLst>
      <p:ext uri="{BB962C8B-B14F-4D97-AF65-F5344CB8AC3E}">
        <p14:creationId xmlns:p14="http://schemas.microsoft.com/office/powerpoint/2010/main" val="313859278"/>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2" name="Título 1"/>
          <p:cNvSpPr>
            <a:spLocks noGrp="1"/>
          </p:cNvSpPr>
          <p:nvPr>
            <p:ph type="ctrTitle"/>
          </p:nvPr>
        </p:nvSpPr>
        <p:spPr>
          <a:xfrm>
            <a:off x="1097280" y="758952"/>
            <a:ext cx="10058400" cy="3566160"/>
          </a:xfrm>
        </p:spPr>
        <p:txBody>
          <a:bodyPr rtlCol="0" anchor="b">
            <a:normAutofit/>
          </a:bodyPr>
          <a:lstStyle>
            <a:lvl1pPr algn="l">
              <a:lnSpc>
                <a:spcPct val="90000"/>
              </a:lnSpc>
              <a:defRPr sz="8000" spc="-50" baseline="0">
                <a:solidFill>
                  <a:schemeClr val="tx1">
                    <a:lumMod val="85000"/>
                    <a:lumOff val="15000"/>
                  </a:schemeClr>
                </a:solidFill>
              </a:defRPr>
            </a:lvl1pPr>
          </a:lstStyle>
          <a:p>
            <a:pPr rtl="0"/>
            <a:r>
              <a:rPr lang="es-ES"/>
              <a:t>Haga clic para modificar el estilo de título del patrón</a:t>
            </a:r>
            <a:endParaRPr lang="en-US" dirty="0"/>
          </a:p>
        </p:txBody>
      </p:sp>
      <p:sp>
        <p:nvSpPr>
          <p:cNvPr id="3" name="Subtítulo 2"/>
          <p:cNvSpPr>
            <a:spLocks noGrp="1"/>
          </p:cNvSpPr>
          <p:nvPr>
            <p:ph type="subTitle" idx="1"/>
          </p:nvPr>
        </p:nvSpPr>
        <p:spPr>
          <a:xfrm>
            <a:off x="1100051" y="4645152"/>
            <a:ext cx="10058400" cy="1143000"/>
          </a:xfrm>
        </p:spPr>
        <p:txBody>
          <a:bodyPr lIns="91440" rIns="91440" rtlCol="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s-ES"/>
              <a:t>Haga clic para modificar el estilo de subtítulo del patrón</a:t>
            </a:r>
            <a:endParaRPr lang="en-US" dirty="0"/>
          </a:p>
        </p:txBody>
      </p:sp>
      <p:cxnSp>
        <p:nvCxnSpPr>
          <p:cNvPr id="9" name="Conector recto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Marcador de fecha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p>
            <a:pPr rtl="0"/>
            <a:fld id="{DFBDD6E0-AD8D-45E4-AD9F-19818203D7BD}" type="datetime1">
              <a:rPr lang="es-ES" smtClean="0"/>
              <a:t>30/03/2026</a:t>
            </a:fld>
            <a:endParaRPr lang="en-US" dirty="0"/>
          </a:p>
        </p:txBody>
      </p:sp>
      <p:sp>
        <p:nvSpPr>
          <p:cNvPr id="5" name="Marcador de pie de página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p>
            <a:pPr rtl="0"/>
            <a:endParaRPr lang="en-US" dirty="0"/>
          </a:p>
        </p:txBody>
      </p:sp>
      <p:sp>
        <p:nvSpPr>
          <p:cNvPr id="6" name="Marcador de posición de número de diapositiva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a:t>Haga clic para modificar el estilo de título del patrón</a:t>
            </a:r>
            <a:endParaRPr lang="en-US" dirty="0"/>
          </a:p>
        </p:txBody>
      </p:sp>
      <p:sp>
        <p:nvSpPr>
          <p:cNvPr id="3" name="Marcador de posición de contenido 2"/>
          <p:cNvSpPr>
            <a:spLocks noGrp="1"/>
          </p:cNvSpPr>
          <p:nvPr>
            <p:ph idx="1"/>
          </p:nvPr>
        </p:nvSpPr>
        <p:spPr/>
        <p:txBody>
          <a:bodyPr rtlCol="0"/>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n-US" dirty="0"/>
          </a:p>
        </p:txBody>
      </p:sp>
      <p:sp>
        <p:nvSpPr>
          <p:cNvPr id="7" name="Marcador de fecha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p>
            <a:pPr rtl="0"/>
            <a:fld id="{642B802E-BFC6-4F89-8E3C-91026AB025AB}" type="datetime1">
              <a:rPr lang="es-ES" smtClean="0"/>
              <a:t>30/03/2026</a:t>
            </a:fld>
            <a:endParaRPr lang="en-US" dirty="0"/>
          </a:p>
        </p:txBody>
      </p:sp>
      <p:sp>
        <p:nvSpPr>
          <p:cNvPr id="8" name="Marcador de pie de página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p>
            <a:pPr rtl="0"/>
            <a:endParaRPr lang="en-US" dirty="0"/>
          </a:p>
        </p:txBody>
      </p:sp>
      <p:sp>
        <p:nvSpPr>
          <p:cNvPr id="9" name="Marcador de número de diapositiva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1097280" y="758952"/>
            <a:ext cx="10058400" cy="3566160"/>
          </a:xfrm>
        </p:spPr>
        <p:txBody>
          <a:bodyPr rtlCol="0" anchor="b" anchorCtr="0">
            <a:normAutofit/>
          </a:bodyPr>
          <a:lstStyle>
            <a:lvl1pPr>
              <a:lnSpc>
                <a:spcPct val="90000"/>
              </a:lnSpc>
              <a:defRPr sz="8000" b="0">
                <a:solidFill>
                  <a:schemeClr val="tx1">
                    <a:lumMod val="85000"/>
                    <a:lumOff val="15000"/>
                  </a:schemeClr>
                </a:solidFill>
              </a:defRPr>
            </a:lvl1pPr>
          </a:lstStyle>
          <a:p>
            <a:pPr rtl="0"/>
            <a:r>
              <a:rPr lang="es-ES"/>
              <a:t>Haga clic para modificar el estilo de título del patrón</a:t>
            </a:r>
            <a:endParaRPr lang="en-US" dirty="0"/>
          </a:p>
        </p:txBody>
      </p:sp>
      <p:sp>
        <p:nvSpPr>
          <p:cNvPr id="3" name="Marcador de posición de texto 2"/>
          <p:cNvSpPr>
            <a:spLocks noGrp="1"/>
          </p:cNvSpPr>
          <p:nvPr>
            <p:ph type="body" idx="1"/>
          </p:nvPr>
        </p:nvSpPr>
        <p:spPr>
          <a:xfrm>
            <a:off x="1097280" y="4663440"/>
            <a:ext cx="10058400" cy="1143000"/>
          </a:xfrm>
        </p:spPr>
        <p:txBody>
          <a:bodyPr lIns="91440" rIns="91440" rtlCol="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a:t>Haga clic para modificar los estilos de texto del patrón</a:t>
            </a:r>
          </a:p>
        </p:txBody>
      </p:sp>
      <p:cxnSp>
        <p:nvCxnSpPr>
          <p:cNvPr id="9" name="Conector recto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Marcador de fecha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p>
            <a:pPr rtl="0"/>
            <a:fld id="{20790B00-0530-4D1E-BDCB-36188ECD53E6}" type="datetime1">
              <a:rPr lang="es-ES" smtClean="0"/>
              <a:t>30/03/2026</a:t>
            </a:fld>
            <a:endParaRPr lang="en-US" dirty="0"/>
          </a:p>
        </p:txBody>
      </p:sp>
      <p:sp>
        <p:nvSpPr>
          <p:cNvPr id="8" name="Marcador de pie de página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p>
            <a:pPr rtl="0"/>
            <a:endParaRPr lang="en-US" dirty="0"/>
          </a:p>
        </p:txBody>
      </p:sp>
      <p:sp>
        <p:nvSpPr>
          <p:cNvPr id="11" name="Marcador de número de diapositiva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s">
    <p:spTree>
      <p:nvGrpSpPr>
        <p:cNvPr id="1" name=""/>
        <p:cNvGrpSpPr/>
        <p:nvPr/>
      </p:nvGrpSpPr>
      <p:grpSpPr>
        <a:xfrm>
          <a:off x="0" y="0"/>
          <a:ext cx="0" cy="0"/>
          <a:chOff x="0" y="0"/>
          <a:chExt cx="0" cy="0"/>
        </a:xfrm>
      </p:grpSpPr>
      <p:sp>
        <p:nvSpPr>
          <p:cNvPr id="8" name="Título 7"/>
          <p:cNvSpPr>
            <a:spLocks noGrp="1"/>
          </p:cNvSpPr>
          <p:nvPr>
            <p:ph type="title"/>
          </p:nvPr>
        </p:nvSpPr>
        <p:spPr>
          <a:xfrm>
            <a:off x="1097280" y="286603"/>
            <a:ext cx="10058400" cy="1450757"/>
          </a:xfrm>
        </p:spPr>
        <p:txBody>
          <a:bodyPr rtlCol="0"/>
          <a:lstStyle/>
          <a:p>
            <a:pPr rtl="0"/>
            <a:r>
              <a:rPr lang="es-ES"/>
              <a:t>Haga clic para modificar el estilo de título del patrón</a:t>
            </a:r>
            <a:endParaRPr lang="en-US" dirty="0"/>
          </a:p>
        </p:txBody>
      </p:sp>
      <p:sp>
        <p:nvSpPr>
          <p:cNvPr id="3" name="Marcador de posición de contenido 2"/>
          <p:cNvSpPr>
            <a:spLocks noGrp="1"/>
          </p:cNvSpPr>
          <p:nvPr>
            <p:ph sz="half" idx="1"/>
          </p:nvPr>
        </p:nvSpPr>
        <p:spPr>
          <a:xfrm>
            <a:off x="1097280" y="2120900"/>
            <a:ext cx="4639736" cy="3748193"/>
          </a:xfrm>
        </p:spPr>
        <p:txBody>
          <a:bodyPr rtlCol="0"/>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n-US" dirty="0"/>
          </a:p>
        </p:txBody>
      </p:sp>
      <p:sp>
        <p:nvSpPr>
          <p:cNvPr id="4" name="Marcador de posición de contenido 3"/>
          <p:cNvSpPr>
            <a:spLocks noGrp="1"/>
          </p:cNvSpPr>
          <p:nvPr>
            <p:ph sz="half" idx="2"/>
          </p:nvPr>
        </p:nvSpPr>
        <p:spPr>
          <a:xfrm>
            <a:off x="6515944" y="2120900"/>
            <a:ext cx="4639736" cy="3748194"/>
          </a:xfrm>
        </p:spPr>
        <p:txBody>
          <a:bodyPr rtlCol="0"/>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n-US" dirty="0"/>
          </a:p>
        </p:txBody>
      </p:sp>
      <p:sp>
        <p:nvSpPr>
          <p:cNvPr id="2" name="Marcador de fecha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p>
            <a:pPr rtl="0"/>
            <a:fld id="{4E289539-2F87-43AF-8A5D-E992DCF9F593}" type="datetime1">
              <a:rPr lang="es-ES" smtClean="0"/>
              <a:t>30/03/2026</a:t>
            </a:fld>
            <a:endParaRPr lang="en-US" dirty="0"/>
          </a:p>
        </p:txBody>
      </p:sp>
      <p:sp>
        <p:nvSpPr>
          <p:cNvPr id="9" name="Marcador de pie de página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p>
            <a:pPr rtl="0"/>
            <a:endParaRPr lang="en-US" dirty="0"/>
          </a:p>
        </p:txBody>
      </p:sp>
      <p:sp>
        <p:nvSpPr>
          <p:cNvPr id="10" name="Marcador de posición de número de diapositiva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ítulo 9"/>
          <p:cNvSpPr>
            <a:spLocks noGrp="1"/>
          </p:cNvSpPr>
          <p:nvPr>
            <p:ph type="title"/>
          </p:nvPr>
        </p:nvSpPr>
        <p:spPr>
          <a:xfrm>
            <a:off x="1097280" y="286603"/>
            <a:ext cx="10058400" cy="1450757"/>
          </a:xfrm>
        </p:spPr>
        <p:txBody>
          <a:bodyPr rtlCol="0"/>
          <a:lstStyle/>
          <a:p>
            <a:pPr rtl="0"/>
            <a:r>
              <a:rPr lang="es-ES"/>
              <a:t>Haga clic para modificar el estilo de título del patrón</a:t>
            </a:r>
            <a:endParaRPr lang="en-US" dirty="0"/>
          </a:p>
        </p:txBody>
      </p:sp>
      <p:sp>
        <p:nvSpPr>
          <p:cNvPr id="3" name="Marcador de posición de texto 2"/>
          <p:cNvSpPr>
            <a:spLocks noGrp="1"/>
          </p:cNvSpPr>
          <p:nvPr>
            <p:ph type="body" idx="1"/>
          </p:nvPr>
        </p:nvSpPr>
        <p:spPr>
          <a:xfrm>
            <a:off x="1097280"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a:t>Haga clic para modificar los estilos de texto del patrón</a:t>
            </a:r>
          </a:p>
        </p:txBody>
      </p:sp>
      <p:sp>
        <p:nvSpPr>
          <p:cNvPr id="4" name="Marcador de posición de contenido 3"/>
          <p:cNvSpPr>
            <a:spLocks noGrp="1"/>
          </p:cNvSpPr>
          <p:nvPr>
            <p:ph sz="half" idx="2"/>
          </p:nvPr>
        </p:nvSpPr>
        <p:spPr>
          <a:xfrm>
            <a:off x="1097280" y="2958274"/>
            <a:ext cx="4639736" cy="2910821"/>
          </a:xfrm>
        </p:spPr>
        <p:txBody>
          <a:bodyPr rtlCol="0"/>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n-US" dirty="0"/>
          </a:p>
        </p:txBody>
      </p:sp>
      <p:sp>
        <p:nvSpPr>
          <p:cNvPr id="5" name="Marcador de posición de texto 4"/>
          <p:cNvSpPr>
            <a:spLocks noGrp="1"/>
          </p:cNvSpPr>
          <p:nvPr>
            <p:ph type="body" sz="quarter" idx="3"/>
          </p:nvPr>
        </p:nvSpPr>
        <p:spPr>
          <a:xfrm>
            <a:off x="6515944"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a:t>Haga clic para modificar los estilos de texto del patrón</a:t>
            </a:r>
          </a:p>
        </p:txBody>
      </p:sp>
      <p:sp>
        <p:nvSpPr>
          <p:cNvPr id="6" name="Marcador de posición de contenido 5"/>
          <p:cNvSpPr>
            <a:spLocks noGrp="1"/>
          </p:cNvSpPr>
          <p:nvPr>
            <p:ph sz="quarter" idx="4"/>
          </p:nvPr>
        </p:nvSpPr>
        <p:spPr>
          <a:xfrm>
            <a:off x="6515944" y="2958273"/>
            <a:ext cx="4639736" cy="2910821"/>
          </a:xfrm>
        </p:spPr>
        <p:txBody>
          <a:bodyPr rtlCol="0"/>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n-US" dirty="0"/>
          </a:p>
        </p:txBody>
      </p:sp>
      <p:sp>
        <p:nvSpPr>
          <p:cNvPr id="2" name="Marcador de fecha 1">
            <a:extLst>
              <a:ext uri="{FF2B5EF4-FFF2-40B4-BE49-F238E27FC236}">
                <a16:creationId xmlns:a16="http://schemas.microsoft.com/office/drawing/2014/main" id="{8AF8A515-AA94-45D1-9223-5C2272618D85}"/>
              </a:ext>
            </a:extLst>
          </p:cNvPr>
          <p:cNvSpPr>
            <a:spLocks noGrp="1"/>
          </p:cNvSpPr>
          <p:nvPr>
            <p:ph type="dt" sz="half" idx="10"/>
          </p:nvPr>
        </p:nvSpPr>
        <p:spPr/>
        <p:txBody>
          <a:bodyPr rtlCol="0"/>
          <a:lstStyle/>
          <a:p>
            <a:pPr rtl="0"/>
            <a:fld id="{AAB5D441-F920-4B23-9C83-2DCFFDC4C28F}" type="datetime1">
              <a:rPr lang="es-ES" smtClean="0"/>
              <a:t>30/03/2026</a:t>
            </a:fld>
            <a:endParaRPr lang="en-US" dirty="0"/>
          </a:p>
        </p:txBody>
      </p:sp>
      <p:sp>
        <p:nvSpPr>
          <p:cNvPr id="11" name="Marcador de pie de página 10">
            <a:extLst>
              <a:ext uri="{FF2B5EF4-FFF2-40B4-BE49-F238E27FC236}">
                <a16:creationId xmlns:a16="http://schemas.microsoft.com/office/drawing/2014/main" id="{D052F5BC-98E0-4D60-AD67-9547738B7DD4}"/>
              </a:ext>
            </a:extLst>
          </p:cNvPr>
          <p:cNvSpPr>
            <a:spLocks noGrp="1"/>
          </p:cNvSpPr>
          <p:nvPr>
            <p:ph type="ftr" sz="quarter" idx="11"/>
          </p:nvPr>
        </p:nvSpPr>
        <p:spPr/>
        <p:txBody>
          <a:bodyPr rtlCol="0"/>
          <a:lstStyle/>
          <a:p>
            <a:pPr rtl="0"/>
            <a:endParaRPr lang="en-US" dirty="0"/>
          </a:p>
        </p:txBody>
      </p:sp>
      <p:sp>
        <p:nvSpPr>
          <p:cNvPr id="12" name="Marcador de posición de número de diapositiva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a:t>Haga clic para modificar el estilo de título del patrón</a:t>
            </a:r>
            <a:endParaRPr lang="en-US" dirty="0"/>
          </a:p>
        </p:txBody>
      </p:sp>
      <p:sp>
        <p:nvSpPr>
          <p:cNvPr id="6" name="Marcador de fecha 5">
            <a:extLst>
              <a:ext uri="{FF2B5EF4-FFF2-40B4-BE49-F238E27FC236}">
                <a16:creationId xmlns:a16="http://schemas.microsoft.com/office/drawing/2014/main" id="{7392073F-158F-44A3-8913-917AFFC1BC20}"/>
              </a:ext>
            </a:extLst>
          </p:cNvPr>
          <p:cNvSpPr>
            <a:spLocks noGrp="1"/>
          </p:cNvSpPr>
          <p:nvPr>
            <p:ph type="dt" sz="half" idx="10"/>
          </p:nvPr>
        </p:nvSpPr>
        <p:spPr/>
        <p:txBody>
          <a:bodyPr rtlCol="0"/>
          <a:lstStyle/>
          <a:p>
            <a:pPr rtl="0"/>
            <a:fld id="{66905ED3-47DC-4785-91BE-A3159F909C32}" type="datetime1">
              <a:rPr lang="es-ES" smtClean="0"/>
              <a:t>30/03/2026</a:t>
            </a:fld>
            <a:endParaRPr lang="en-US" dirty="0"/>
          </a:p>
        </p:txBody>
      </p:sp>
      <p:sp>
        <p:nvSpPr>
          <p:cNvPr id="7" name="Marcador de pie de página 6">
            <a:extLst>
              <a:ext uri="{FF2B5EF4-FFF2-40B4-BE49-F238E27FC236}">
                <a16:creationId xmlns:a16="http://schemas.microsoft.com/office/drawing/2014/main" id="{EED72207-24CA-42B7-A975-2F8E41CBA904}"/>
              </a:ext>
            </a:extLst>
          </p:cNvPr>
          <p:cNvSpPr>
            <a:spLocks noGrp="1"/>
          </p:cNvSpPr>
          <p:nvPr>
            <p:ph type="ftr" sz="quarter" idx="11"/>
          </p:nvPr>
        </p:nvSpPr>
        <p:spPr/>
        <p:txBody>
          <a:bodyPr rtlCol="0"/>
          <a:lstStyle/>
          <a:p>
            <a:pPr rtl="0"/>
            <a:endParaRPr lang="en-US" dirty="0"/>
          </a:p>
        </p:txBody>
      </p:sp>
      <p:sp>
        <p:nvSpPr>
          <p:cNvPr id="8" name="Marcador de número de diapositiva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Marcador de fecha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fld id="{9B572A2E-2D1F-4CE9-8283-32B623FD9550}" type="datetime1">
              <a:rPr lang="es-ES" smtClean="0"/>
              <a:t>30/03/2026</a:t>
            </a:fld>
            <a:endParaRPr lang="en-US" dirty="0"/>
          </a:p>
        </p:txBody>
      </p:sp>
      <p:sp>
        <p:nvSpPr>
          <p:cNvPr id="3" name="Marcador de pie de página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endParaRPr lang="en-US" dirty="0"/>
          </a:p>
        </p:txBody>
      </p:sp>
      <p:sp>
        <p:nvSpPr>
          <p:cNvPr id="4" name="Marcador de número de diapositiva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43466" y="786383"/>
            <a:ext cx="3517567" cy="2093975"/>
          </a:xfrm>
        </p:spPr>
        <p:txBody>
          <a:bodyPr rtlCol="0" anchor="b">
            <a:normAutofit/>
          </a:bodyPr>
          <a:lstStyle>
            <a:lvl1pPr>
              <a:lnSpc>
                <a:spcPct val="90000"/>
              </a:lnSpc>
              <a:defRPr sz="3600" b="0">
                <a:solidFill>
                  <a:srgbClr val="FFFFFF"/>
                </a:solidFill>
              </a:defRPr>
            </a:lvl1pPr>
          </a:lstStyle>
          <a:p>
            <a:pPr rtl="0"/>
            <a:r>
              <a:rPr lang="es-ES"/>
              <a:t>Haga clic para modificar el estilo de título del patrón</a:t>
            </a:r>
            <a:endParaRPr lang="en-US" dirty="0"/>
          </a:p>
        </p:txBody>
      </p:sp>
      <p:sp>
        <p:nvSpPr>
          <p:cNvPr id="3" name="Marcador de posición de contenido 2"/>
          <p:cNvSpPr>
            <a:spLocks noGrp="1"/>
          </p:cNvSpPr>
          <p:nvPr>
            <p:ph idx="1"/>
          </p:nvPr>
        </p:nvSpPr>
        <p:spPr>
          <a:xfrm>
            <a:off x="5458984" y="812799"/>
            <a:ext cx="5928344" cy="5294757"/>
          </a:xfrm>
        </p:spPr>
        <p:txBody>
          <a:bodyPr rtlCol="0"/>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n-US" dirty="0"/>
          </a:p>
        </p:txBody>
      </p:sp>
      <p:sp>
        <p:nvSpPr>
          <p:cNvPr id="4" name="Marcador de posición de texto 3"/>
          <p:cNvSpPr>
            <a:spLocks noGrp="1"/>
          </p:cNvSpPr>
          <p:nvPr>
            <p:ph type="body" sz="half" idx="2"/>
          </p:nvPr>
        </p:nvSpPr>
        <p:spPr>
          <a:xfrm>
            <a:off x="643465" y="3043050"/>
            <a:ext cx="3517567" cy="3064505"/>
          </a:xfrm>
        </p:spPr>
        <p:txBody>
          <a:bodyPr lIns="91440" rIns="91440" rtlCol="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a:t>Haga clic para modificar los estilos de texto del patrón</a:t>
            </a:r>
          </a:p>
        </p:txBody>
      </p:sp>
      <p:sp>
        <p:nvSpPr>
          <p:cNvPr id="5" name="Marcador de fecha 4"/>
          <p:cNvSpPr>
            <a:spLocks noGrp="1"/>
          </p:cNvSpPr>
          <p:nvPr>
            <p:ph type="dt" sz="half" idx="10"/>
          </p:nvPr>
        </p:nvSpPr>
        <p:spPr>
          <a:xfrm>
            <a:off x="643464" y="6446520"/>
            <a:ext cx="3517568" cy="365125"/>
          </a:xfrm>
        </p:spPr>
        <p:txBody>
          <a:bodyPr rtlCol="0"/>
          <a:lstStyle>
            <a:lvl1pPr algn="l">
              <a:defRPr/>
            </a:lvl1pPr>
          </a:lstStyle>
          <a:p>
            <a:pPr rtl="0"/>
            <a:fld id="{F3EBED02-4679-462C-830F-722888DF8E2D}" type="datetime1">
              <a:rPr lang="es-ES" smtClean="0"/>
              <a:t>30/03/2026</a:t>
            </a:fld>
            <a:endParaRPr lang="en-US" dirty="0"/>
          </a:p>
        </p:txBody>
      </p:sp>
      <p:sp>
        <p:nvSpPr>
          <p:cNvPr id="6" name="Marcador de pie de página 5"/>
          <p:cNvSpPr>
            <a:spLocks noGrp="1"/>
          </p:cNvSpPr>
          <p:nvPr>
            <p:ph type="ftr" sz="quarter" idx="11"/>
          </p:nvPr>
        </p:nvSpPr>
        <p:spPr>
          <a:xfrm>
            <a:off x="5458983" y="6446520"/>
            <a:ext cx="5334019" cy="365125"/>
          </a:xfrm>
        </p:spPr>
        <p:txBody>
          <a:bodyPr rtlCol="0"/>
          <a:lstStyle>
            <a:lvl1pPr algn="l">
              <a:defRPr>
                <a:solidFill>
                  <a:schemeClr val="tx2"/>
                </a:solidFill>
              </a:defRPr>
            </a:lvl1pPr>
          </a:lstStyle>
          <a:p>
            <a:pPr rtl="0"/>
            <a:endParaRPr lang="en-US" dirty="0"/>
          </a:p>
        </p:txBody>
      </p:sp>
      <p:sp>
        <p:nvSpPr>
          <p:cNvPr id="7" name="Marcador de posición de número de diapositiva 6"/>
          <p:cNvSpPr>
            <a:spLocks noGrp="1"/>
          </p:cNvSpPr>
          <p:nvPr>
            <p:ph type="sldNum" sz="quarter" idx="12"/>
          </p:nvPr>
        </p:nvSpPr>
        <p:spPr/>
        <p:txBody>
          <a:bodyPr rtlCol="0"/>
          <a:lstStyle>
            <a:lvl1pPr>
              <a:defRPr>
                <a:solidFill>
                  <a:schemeClr val="tx2"/>
                </a:solidFill>
              </a:defRPr>
            </a:lvl1pPr>
          </a:lstStyle>
          <a:p>
            <a:pPr rtl="0"/>
            <a:fld id="{3A98EE3D-8CD1-4C3F-BD1C-C98C9596463C}" type="slidenum">
              <a:rPr lang="en-US" smtClean="0"/>
              <a:pPr rtl="0"/>
              <a:t>‹Nº›</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leyenda">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Marcador de posición de imagen 2"/>
          <p:cNvSpPr>
            <a:spLocks noGrp="1" noChangeAspect="1"/>
          </p:cNvSpPr>
          <p:nvPr>
            <p:ph type="pic" idx="1"/>
          </p:nvPr>
        </p:nvSpPr>
        <p:spPr>
          <a:xfrm>
            <a:off x="15" y="0"/>
            <a:ext cx="12191985" cy="4578350"/>
          </a:xfrm>
          <a:solidFill>
            <a:schemeClr val="bg1">
              <a:lumMod val="85000"/>
            </a:schemeClr>
          </a:solidFill>
        </p:spPr>
        <p:txBody>
          <a:bodyPr lIns="457200" tIns="45720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a:t>Haga clic en el icono para agregar una imagen</a:t>
            </a:r>
            <a:endParaRPr lang="en-US" dirty="0"/>
          </a:p>
        </p:txBody>
      </p:sp>
      <p:sp>
        <p:nvSpPr>
          <p:cNvPr id="2" name="Título 1"/>
          <p:cNvSpPr>
            <a:spLocks noGrp="1"/>
          </p:cNvSpPr>
          <p:nvPr>
            <p:ph type="title"/>
          </p:nvPr>
        </p:nvSpPr>
        <p:spPr>
          <a:xfrm>
            <a:off x="1097279" y="4799362"/>
            <a:ext cx="10113645" cy="743682"/>
          </a:xfrm>
        </p:spPr>
        <p:txBody>
          <a:bodyPr tIns="0" bIns="0" rtlCol="0" anchor="b">
            <a:noAutofit/>
          </a:bodyPr>
          <a:lstStyle>
            <a:lvl1pPr>
              <a:defRPr sz="3100" b="0">
                <a:solidFill>
                  <a:srgbClr val="FFFFFF"/>
                </a:solidFill>
              </a:defRPr>
            </a:lvl1pPr>
          </a:lstStyle>
          <a:p>
            <a:pPr rtl="0"/>
            <a:r>
              <a:rPr lang="es-ES"/>
              <a:t>Haga clic para modificar el estilo de título del patrón</a:t>
            </a:r>
            <a:endParaRPr lang="en-US" dirty="0"/>
          </a:p>
        </p:txBody>
      </p:sp>
      <p:sp>
        <p:nvSpPr>
          <p:cNvPr id="4" name="Marcador de posición de texto 3"/>
          <p:cNvSpPr>
            <a:spLocks noGrp="1"/>
          </p:cNvSpPr>
          <p:nvPr>
            <p:ph type="body" sz="half" idx="2"/>
          </p:nvPr>
        </p:nvSpPr>
        <p:spPr>
          <a:xfrm>
            <a:off x="1097279" y="5715000"/>
            <a:ext cx="10113264" cy="609600"/>
          </a:xfrm>
        </p:spPr>
        <p:txBody>
          <a:bodyPr lIns="91440" tIns="0" rIns="91440" bIns="0" rtlCol="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a:t>Haga clic para modificar los estilos de texto del patrón</a:t>
            </a:r>
          </a:p>
        </p:txBody>
      </p:sp>
      <p:sp>
        <p:nvSpPr>
          <p:cNvPr id="5" name="Marcador de fecha 4"/>
          <p:cNvSpPr>
            <a:spLocks noGrp="1"/>
          </p:cNvSpPr>
          <p:nvPr>
            <p:ph type="dt" sz="half" idx="10"/>
          </p:nvPr>
        </p:nvSpPr>
        <p:spPr/>
        <p:txBody>
          <a:bodyPr rtlCol="0"/>
          <a:lstStyle>
            <a:lvl1pPr>
              <a:defRPr/>
            </a:lvl1pPr>
          </a:lstStyle>
          <a:p>
            <a:pPr rtl="0"/>
            <a:fld id="{EB264D6B-F770-42EA-A416-77765C2D9E77}" type="datetime1">
              <a:rPr lang="es-ES" smtClean="0"/>
              <a:t>30/03/2026</a:t>
            </a:fld>
            <a:endParaRPr lang="en-US" dirty="0"/>
          </a:p>
        </p:txBody>
      </p:sp>
      <p:sp>
        <p:nvSpPr>
          <p:cNvPr id="6" name="Marcador de posición de pie de página 5"/>
          <p:cNvSpPr>
            <a:spLocks noGrp="1"/>
          </p:cNvSpPr>
          <p:nvPr>
            <p:ph type="ftr" sz="quarter" idx="11"/>
          </p:nvPr>
        </p:nvSpPr>
        <p:spPr>
          <a:xfrm>
            <a:off x="1097279" y="6446838"/>
            <a:ext cx="6818262" cy="365125"/>
          </a:xfrm>
        </p:spPr>
        <p:txBody>
          <a:bodyPr rtlCol="0"/>
          <a:lstStyle/>
          <a:p>
            <a:pPr algn="l" rtl="0"/>
            <a:endParaRPr lang="en-US" dirty="0"/>
          </a:p>
        </p:txBody>
      </p:sp>
      <p:sp>
        <p:nvSpPr>
          <p:cNvPr id="7" name="Marcador de número de diapositiva 6"/>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a:t>Haga clic para modificar el estilo de título del patrón</a:t>
            </a:r>
            <a:endParaRPr lang="en-US" dirty="0"/>
          </a:p>
        </p:txBody>
      </p:sp>
      <p:sp>
        <p:nvSpPr>
          <p:cNvPr id="3" name="Marcador de posición de texto vertical 2"/>
          <p:cNvSpPr>
            <a:spLocks noGrp="1"/>
          </p:cNvSpPr>
          <p:nvPr>
            <p:ph type="body" orient="vert" idx="1"/>
          </p:nvPr>
        </p:nvSpPr>
        <p:spPr/>
        <p:txBody>
          <a:bodyPr vert="eaVert" lIns="45720" tIns="0" rIns="45720" bIns="0" rtlCol="0"/>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n-US" dirty="0"/>
          </a:p>
        </p:txBody>
      </p:sp>
      <p:sp>
        <p:nvSpPr>
          <p:cNvPr id="7" name="Marcador de fecha 6">
            <a:extLst>
              <a:ext uri="{FF2B5EF4-FFF2-40B4-BE49-F238E27FC236}">
                <a16:creationId xmlns:a16="http://schemas.microsoft.com/office/drawing/2014/main" id="{7D5506EE-1026-4F35-9ACC-BD05BE0F9B36}"/>
              </a:ext>
            </a:extLst>
          </p:cNvPr>
          <p:cNvSpPr>
            <a:spLocks noGrp="1"/>
          </p:cNvSpPr>
          <p:nvPr>
            <p:ph type="dt" sz="half" idx="10"/>
          </p:nvPr>
        </p:nvSpPr>
        <p:spPr/>
        <p:txBody>
          <a:bodyPr rtlCol="0"/>
          <a:lstStyle/>
          <a:p>
            <a:pPr rtl="0"/>
            <a:fld id="{B7FC992A-CC56-4D4E-AD85-36A20390DB11}" type="datetime1">
              <a:rPr lang="es-ES" smtClean="0"/>
              <a:t>30/03/2026</a:t>
            </a:fld>
            <a:endParaRPr lang="en-US" dirty="0"/>
          </a:p>
        </p:txBody>
      </p:sp>
      <p:sp>
        <p:nvSpPr>
          <p:cNvPr id="8" name="Marcador de pie de página 7">
            <a:extLst>
              <a:ext uri="{FF2B5EF4-FFF2-40B4-BE49-F238E27FC236}">
                <a16:creationId xmlns:a16="http://schemas.microsoft.com/office/drawing/2014/main" id="{B7696E5F-8D95-4450-AE52-5438E6EDE2BF}"/>
              </a:ext>
            </a:extLst>
          </p:cNvPr>
          <p:cNvSpPr>
            <a:spLocks noGrp="1"/>
          </p:cNvSpPr>
          <p:nvPr>
            <p:ph type="ftr" sz="quarter" idx="11"/>
          </p:nvPr>
        </p:nvSpPr>
        <p:spPr/>
        <p:txBody>
          <a:bodyPr rtlCol="0"/>
          <a:lstStyle/>
          <a:p>
            <a:pPr rtl="0"/>
            <a:endParaRPr lang="en-US" dirty="0"/>
          </a:p>
        </p:txBody>
      </p:sp>
      <p:sp>
        <p:nvSpPr>
          <p:cNvPr id="9" name="Marcador de número de diapositiva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vertical 1"/>
          <p:cNvSpPr>
            <a:spLocks noGrp="1"/>
          </p:cNvSpPr>
          <p:nvPr>
            <p:ph type="title" orient="vert"/>
          </p:nvPr>
        </p:nvSpPr>
        <p:spPr>
          <a:xfrm>
            <a:off x="8724900" y="412302"/>
            <a:ext cx="2628900" cy="5759898"/>
          </a:xfrm>
        </p:spPr>
        <p:txBody>
          <a:bodyPr vert="eaVert" rtlCol="0"/>
          <a:lstStyle/>
          <a:p>
            <a:pPr rtl="0"/>
            <a:r>
              <a:rPr lang="es-ES"/>
              <a:t>Haga clic para modificar el estilo de título del patrón</a:t>
            </a:r>
            <a:endParaRPr lang="en-US" dirty="0"/>
          </a:p>
        </p:txBody>
      </p:sp>
      <p:sp>
        <p:nvSpPr>
          <p:cNvPr id="3" name="Marcador de posición de texto vertical 2"/>
          <p:cNvSpPr>
            <a:spLocks noGrp="1"/>
          </p:cNvSpPr>
          <p:nvPr>
            <p:ph type="body" orient="vert" idx="1"/>
          </p:nvPr>
        </p:nvSpPr>
        <p:spPr>
          <a:xfrm>
            <a:off x="838200" y="412302"/>
            <a:ext cx="7734300" cy="5759898"/>
          </a:xfrm>
        </p:spPr>
        <p:txBody>
          <a:bodyPr vert="eaVert" lIns="45720" tIns="0" rIns="45720" bIns="0" rtlCol="0"/>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n-US" dirty="0"/>
          </a:p>
        </p:txBody>
      </p:sp>
      <p:sp>
        <p:nvSpPr>
          <p:cNvPr id="7" name="Marcador de fecha 6">
            <a:extLst>
              <a:ext uri="{FF2B5EF4-FFF2-40B4-BE49-F238E27FC236}">
                <a16:creationId xmlns:a16="http://schemas.microsoft.com/office/drawing/2014/main" id="{AF33D6B0-F070-45C4-A472-19F432BE3932}"/>
              </a:ext>
            </a:extLst>
          </p:cNvPr>
          <p:cNvSpPr>
            <a:spLocks noGrp="1"/>
          </p:cNvSpPr>
          <p:nvPr>
            <p:ph type="dt" sz="half" idx="10"/>
          </p:nvPr>
        </p:nvSpPr>
        <p:spPr/>
        <p:txBody>
          <a:bodyPr rtlCol="0"/>
          <a:lstStyle/>
          <a:p>
            <a:pPr rtl="0"/>
            <a:fld id="{433A0641-D90D-45EF-A619-84D92EAC9606}" type="datetime1">
              <a:rPr lang="es-ES" smtClean="0"/>
              <a:t>30/03/2026</a:t>
            </a:fld>
            <a:endParaRPr lang="en-US" dirty="0"/>
          </a:p>
        </p:txBody>
      </p:sp>
      <p:sp>
        <p:nvSpPr>
          <p:cNvPr id="8" name="Marcador de pie de página 7">
            <a:extLst>
              <a:ext uri="{FF2B5EF4-FFF2-40B4-BE49-F238E27FC236}">
                <a16:creationId xmlns:a16="http://schemas.microsoft.com/office/drawing/2014/main" id="{9975399F-DAB2-410D-967F-ED17E6F796E7}"/>
              </a:ext>
            </a:extLst>
          </p:cNvPr>
          <p:cNvSpPr>
            <a:spLocks noGrp="1"/>
          </p:cNvSpPr>
          <p:nvPr>
            <p:ph type="ftr" sz="quarter" idx="11"/>
          </p:nvPr>
        </p:nvSpPr>
        <p:spPr/>
        <p:txBody>
          <a:bodyPr rtlCol="0"/>
          <a:lstStyle/>
          <a:p>
            <a:pPr rtl="0"/>
            <a:endParaRPr lang="en-US" dirty="0"/>
          </a:p>
        </p:txBody>
      </p:sp>
      <p:sp>
        <p:nvSpPr>
          <p:cNvPr id="10" name="Marcador de número de diapositiva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2" name="Marcador de título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pPr rtl="0"/>
            <a:r>
              <a:rPr lang="es"/>
              <a:t>Haga clic para modificar el estilo de título del patrón</a:t>
            </a:r>
            <a:endParaRPr lang="en-US" dirty="0"/>
          </a:p>
        </p:txBody>
      </p:sp>
      <p:sp>
        <p:nvSpPr>
          <p:cNvPr id="3" name="Marcador de posición de texto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4" name="Marcador de fecha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pPr rtl="0"/>
            <a:fld id="{0B690EE5-24CD-41B5-AD70-FAB1408B17DB}" type="datetime1">
              <a:rPr lang="es-ES" smtClean="0"/>
              <a:t>30/03/2026</a:t>
            </a:fld>
            <a:endParaRPr lang="en-US" dirty="0"/>
          </a:p>
        </p:txBody>
      </p:sp>
      <p:sp>
        <p:nvSpPr>
          <p:cNvPr id="5" name="Marcador de posición de pie de página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pPr rtl="0"/>
            <a:endParaRPr lang="en-US" dirty="0"/>
          </a:p>
        </p:txBody>
      </p:sp>
      <p:sp>
        <p:nvSpPr>
          <p:cNvPr id="6" name="Marcador de número de diapositiva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pPr rtl="0"/>
            <a:fld id="{3A98EE3D-8CD1-4C3F-BD1C-C98C9596463C}" type="slidenum">
              <a:rPr lang="en-US" smtClean="0"/>
              <a:t>‹Nº›</a:t>
            </a:fld>
            <a:endParaRPr lang="en-US" dirty="0"/>
          </a:p>
        </p:txBody>
      </p:sp>
      <p:cxnSp>
        <p:nvCxnSpPr>
          <p:cNvPr id="10" name="Conector recto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ángulo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CL" noProof="0" dirty="0"/>
          </a:p>
        </p:txBody>
      </p:sp>
      <p:sp>
        <p:nvSpPr>
          <p:cNvPr id="2" name="Título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709589" cy="3686015"/>
          </a:xfrm>
        </p:spPr>
        <p:txBody>
          <a:bodyPr rtlCol="0">
            <a:normAutofit fontScale="90000"/>
          </a:bodyPr>
          <a:lstStyle/>
          <a:p>
            <a:pPr rtl="0"/>
            <a:r>
              <a:rPr lang="es-CL" sz="8000" noProof="0" dirty="0"/>
              <a:t>Análisis comercial SHOPAIN 2024</a:t>
            </a:r>
          </a:p>
        </p:txBody>
      </p:sp>
      <p:sp>
        <p:nvSpPr>
          <p:cNvPr id="3" name="Subtítulo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rtlCol="0">
            <a:normAutofit/>
          </a:bodyPr>
          <a:lstStyle/>
          <a:p>
            <a:pPr rtl="0"/>
            <a:r>
              <a:rPr lang="es-CL" sz="2400" noProof="0" dirty="0">
                <a:solidFill>
                  <a:schemeClr val="tx1">
                    <a:lumMod val="85000"/>
                    <a:lumOff val="15000"/>
                  </a:schemeClr>
                </a:solidFill>
              </a:rPr>
              <a:t>Autor: </a:t>
            </a:r>
            <a:r>
              <a:rPr lang="es-CL" sz="2400" noProof="0" dirty="0" err="1">
                <a:solidFill>
                  <a:schemeClr val="tx1">
                    <a:lumMod val="85000"/>
                    <a:lumOff val="15000"/>
                  </a:schemeClr>
                </a:solidFill>
              </a:rPr>
              <a:t>sjv</a:t>
            </a:r>
            <a:r>
              <a:rPr lang="es-CL" sz="2400" noProof="0" dirty="0">
                <a:solidFill>
                  <a:schemeClr val="tx1">
                    <a:lumMod val="85000"/>
                    <a:lumOff val="15000"/>
                  </a:schemeClr>
                </a:solidFill>
              </a:rPr>
              <a:t> | ABP Módulo 9</a:t>
            </a:r>
          </a:p>
        </p:txBody>
      </p:sp>
      <p:pic>
        <p:nvPicPr>
          <p:cNvPr id="5" name="Imagen 4" descr="Una imagen que contiene edificio, sentado, banco, lateral&#10;&#10;Descripción generada automáticamente">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Conector recto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7A10A0C8-9DA2-B640-FD71-0B05996455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1676" y="1429075"/>
            <a:ext cx="2417667" cy="2106057"/>
          </a:xfrm>
          <a:prstGeom prst="rect">
            <a:avLst/>
          </a:prstGeom>
        </p:spPr>
      </p:pic>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506595E-F3F5-576C-775C-1AB7352C88BC}"/>
              </a:ext>
            </a:extLst>
          </p:cNvPr>
          <p:cNvSpPr>
            <a:spLocks noGrp="1"/>
          </p:cNvSpPr>
          <p:nvPr>
            <p:ph type="dt" sz="half" idx="10"/>
          </p:nvPr>
        </p:nvSpPr>
        <p:spPr/>
        <p:txBody>
          <a:bodyPr/>
          <a:lstStyle/>
          <a:p>
            <a:pPr rtl="0"/>
            <a:fld id="{9B572A2E-2D1F-4CE9-8283-32B623FD9550}" type="datetime1">
              <a:rPr lang="es-CL" noProof="0" smtClean="0"/>
              <a:t>30-03-2026</a:t>
            </a:fld>
            <a:endParaRPr lang="es-CL" noProof="0" dirty="0"/>
          </a:p>
        </p:txBody>
      </p:sp>
      <p:sp>
        <p:nvSpPr>
          <p:cNvPr id="3" name="Rectangle 1">
            <a:extLst>
              <a:ext uri="{FF2B5EF4-FFF2-40B4-BE49-F238E27FC236}">
                <a16:creationId xmlns:a16="http://schemas.microsoft.com/office/drawing/2014/main" id="{9188FD42-D054-E8A5-2850-F83C51C3D32E}"/>
              </a:ext>
            </a:extLst>
          </p:cNvPr>
          <p:cNvSpPr txBox="1">
            <a:spLocks noChangeArrowheads="1"/>
          </p:cNvSpPr>
          <p:nvPr/>
        </p:nvSpPr>
        <p:spPr bwMode="auto">
          <a:xfrm>
            <a:off x="849365" y="982549"/>
            <a:ext cx="715283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eaLnBrk="0" fontAlgn="base" hangingPunct="0">
              <a:lnSpc>
                <a:spcPct val="100000"/>
              </a:lnSpc>
              <a:spcBef>
                <a:spcPct val="0"/>
              </a:spcBef>
              <a:spcAft>
                <a:spcPct val="0"/>
              </a:spcAft>
              <a:buClrTx/>
              <a:buSzTx/>
              <a:buFontTx/>
              <a:buNone/>
            </a:pPr>
            <a:r>
              <a:rPr lang="es-CL" sz="1800" noProof="0" dirty="0">
                <a:solidFill>
                  <a:schemeClr val="tx1"/>
                </a:solidFill>
              </a:rPr>
              <a:t>La compañía SHOPAIN acudió a nuestro equipo para realizar un análisis de las ventas realizadas en todas sus sucursales a lo largo de los años 2023-2024.</a:t>
            </a:r>
          </a:p>
          <a:p>
            <a:pPr marL="0" indent="0" eaLnBrk="0" fontAlgn="base" hangingPunct="0">
              <a:lnSpc>
                <a:spcPct val="100000"/>
              </a:lnSpc>
              <a:spcBef>
                <a:spcPct val="0"/>
              </a:spcBef>
              <a:spcAft>
                <a:spcPct val="0"/>
              </a:spcAft>
              <a:buClrTx/>
              <a:buSzTx/>
              <a:buFontTx/>
              <a:buNone/>
            </a:pPr>
            <a:endParaRPr lang="es-CL" sz="1800" noProof="0" dirty="0">
              <a:solidFill>
                <a:schemeClr val="tx1"/>
              </a:solidFill>
            </a:endParaRPr>
          </a:p>
          <a:p>
            <a:pPr marL="0" indent="0" eaLnBrk="0" fontAlgn="base" hangingPunct="0">
              <a:lnSpc>
                <a:spcPct val="100000"/>
              </a:lnSpc>
              <a:spcBef>
                <a:spcPct val="0"/>
              </a:spcBef>
              <a:spcAft>
                <a:spcPct val="0"/>
              </a:spcAft>
              <a:buClrTx/>
              <a:buSzTx/>
              <a:buFontTx/>
              <a:buNone/>
            </a:pPr>
            <a:r>
              <a:rPr lang="es-CL" sz="1800" noProof="0" dirty="0">
                <a:solidFill>
                  <a:schemeClr val="tx1"/>
                </a:solidFill>
              </a:rPr>
              <a:t>Durante este periodo de tiempo se ha monitoreado el desempeño de sus ventas contemplando los datos estadísticos de cada una de sus sucursales en España.</a:t>
            </a:r>
          </a:p>
          <a:p>
            <a:pPr marL="0" indent="0" eaLnBrk="0" fontAlgn="base" hangingPunct="0">
              <a:lnSpc>
                <a:spcPct val="100000"/>
              </a:lnSpc>
              <a:spcBef>
                <a:spcPct val="0"/>
              </a:spcBef>
              <a:spcAft>
                <a:spcPct val="0"/>
              </a:spcAft>
              <a:buClrTx/>
              <a:buSzTx/>
              <a:buFontTx/>
              <a:buNone/>
            </a:pPr>
            <a:endParaRPr lang="es-CL" sz="1800" noProof="0" dirty="0">
              <a:solidFill>
                <a:schemeClr val="tx1"/>
              </a:solidFill>
            </a:endParaRPr>
          </a:p>
          <a:p>
            <a:pPr marL="0" indent="0" eaLnBrk="0" fontAlgn="base" hangingPunct="0">
              <a:lnSpc>
                <a:spcPct val="100000"/>
              </a:lnSpc>
              <a:spcBef>
                <a:spcPct val="0"/>
              </a:spcBef>
              <a:spcAft>
                <a:spcPct val="0"/>
              </a:spcAft>
              <a:buClrTx/>
              <a:buSzTx/>
              <a:buFontTx/>
              <a:buNone/>
            </a:pPr>
            <a:r>
              <a:rPr lang="es-CL" sz="1800" noProof="0" dirty="0">
                <a:solidFill>
                  <a:schemeClr val="tx1"/>
                </a:solidFill>
              </a:rPr>
              <a:t>El primer problema que se nos presenta es el resultado del cumplimiento de metas propuesto para cada año, en el cual la meta alcanzada fue solo de un 92% y 84% respectivamente, un porcentaje adecuado pero por debajo de lo esperado.</a:t>
            </a:r>
          </a:p>
          <a:p>
            <a:pPr marL="0" indent="0" eaLnBrk="0" fontAlgn="base" hangingPunct="0">
              <a:lnSpc>
                <a:spcPct val="100000"/>
              </a:lnSpc>
              <a:spcBef>
                <a:spcPct val="0"/>
              </a:spcBef>
              <a:spcAft>
                <a:spcPct val="0"/>
              </a:spcAft>
              <a:buClrTx/>
              <a:buSzTx/>
              <a:buFontTx/>
              <a:buNone/>
            </a:pPr>
            <a:endParaRPr lang="es-CL" sz="1800" noProof="0" dirty="0">
              <a:solidFill>
                <a:schemeClr val="tx1"/>
              </a:solidFill>
            </a:endParaRPr>
          </a:p>
          <a:p>
            <a:pPr marL="0" indent="0" eaLnBrk="0" fontAlgn="base" hangingPunct="0">
              <a:lnSpc>
                <a:spcPct val="100000"/>
              </a:lnSpc>
              <a:spcBef>
                <a:spcPct val="0"/>
              </a:spcBef>
              <a:spcAft>
                <a:spcPct val="0"/>
              </a:spcAft>
              <a:buClrTx/>
              <a:buSzTx/>
              <a:buFontTx/>
              <a:buNone/>
            </a:pPr>
            <a:r>
              <a:rPr lang="es-CL" sz="1800" noProof="0" dirty="0">
                <a:solidFill>
                  <a:schemeClr val="tx1"/>
                </a:solidFill>
              </a:rPr>
              <a:t>Al realizar un análisis exhaustivo de los datos proporcionados por SHOPAIN descubrimos que existen variaciones importantes en las ventas que se presentan entre los meses que componen cada uno de los años, entre las ventas generadas por los empleados/sucursales, así como diferencias en los totales recaudados (2023/2024).</a:t>
            </a:r>
          </a:p>
        </p:txBody>
      </p:sp>
      <p:sp>
        <p:nvSpPr>
          <p:cNvPr id="4" name="Título 1">
            <a:extLst>
              <a:ext uri="{FF2B5EF4-FFF2-40B4-BE49-F238E27FC236}">
                <a16:creationId xmlns:a16="http://schemas.microsoft.com/office/drawing/2014/main" id="{9D8B51A4-7B0B-7146-D815-5557FDB6F0E6}"/>
              </a:ext>
            </a:extLst>
          </p:cNvPr>
          <p:cNvSpPr txBox="1">
            <a:spLocks/>
          </p:cNvSpPr>
          <p:nvPr/>
        </p:nvSpPr>
        <p:spPr>
          <a:xfrm>
            <a:off x="4337216" y="120771"/>
            <a:ext cx="3517567" cy="741007"/>
          </a:xfrm>
          <a:prstGeom prst="rect">
            <a:avLst/>
          </a:prstGeom>
          <a:ln>
            <a:solidFill>
              <a:schemeClr val="bg1"/>
            </a:solidFill>
          </a:ln>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pPr algn="ctr"/>
            <a:r>
              <a:rPr lang="es-CL" noProof="0" dirty="0"/>
              <a:t>Storyboard</a:t>
            </a:r>
          </a:p>
        </p:txBody>
      </p:sp>
      <p:pic>
        <p:nvPicPr>
          <p:cNvPr id="4098" name="Picture 2" descr="Imagen cargada">
            <a:extLst>
              <a:ext uri="{FF2B5EF4-FFF2-40B4-BE49-F238E27FC236}">
                <a16:creationId xmlns:a16="http://schemas.microsoft.com/office/drawing/2014/main" id="{BB3CDD1A-DCC1-21F5-4E88-26F252E1BE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8426" y="1670216"/>
            <a:ext cx="3517567" cy="3517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6409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ángulo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CL" noProof="0" dirty="0"/>
          </a:p>
        </p:txBody>
      </p:sp>
      <p:sp>
        <p:nvSpPr>
          <p:cNvPr id="2" name="Título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rtlCol="0" anchor="ctr">
            <a:normAutofit fontScale="90000"/>
          </a:bodyPr>
          <a:lstStyle/>
          <a:p>
            <a:pPr lvl="0" rtl="0"/>
            <a:r>
              <a:rPr lang="es-CL" sz="4800" i="1" noProof="0" dirty="0">
                <a:solidFill>
                  <a:srgbClr val="FFFFFF"/>
                </a:solidFill>
              </a:rPr>
              <a:t>“Las ventas del 2024 no están cumpliendo las metas establecidas (84%) y muestran variaciones mensuales respecto al 2023, lo que sugiere problemas en la consistencia del rendimiento comercial.”</a:t>
            </a:r>
          </a:p>
        </p:txBody>
      </p:sp>
      <p:sp>
        <p:nvSpPr>
          <p:cNvPr id="49" name="Rectángulo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noProof="0" dirty="0"/>
          </a:p>
        </p:txBody>
      </p:sp>
      <p:sp>
        <p:nvSpPr>
          <p:cNvPr id="3" name="Subtítulo 2">
            <a:extLst>
              <a:ext uri="{FF2B5EF4-FFF2-40B4-BE49-F238E27FC236}">
                <a16:creationId xmlns:a16="http://schemas.microsoft.com/office/drawing/2014/main" id="{255E1F2F-E259-4EA8-9FFD-3A10AF541859}"/>
              </a:ext>
            </a:extLst>
          </p:cNvPr>
          <p:cNvSpPr>
            <a:spLocks noGrp="1"/>
          </p:cNvSpPr>
          <p:nvPr>
            <p:ph type="subTitle" idx="1"/>
          </p:nvPr>
        </p:nvSpPr>
        <p:spPr>
          <a:xfrm>
            <a:off x="1097280" y="5715000"/>
            <a:ext cx="10058400" cy="1143000"/>
          </a:xfrm>
        </p:spPr>
        <p:txBody>
          <a:bodyPr rtlCol="0">
            <a:normAutofit/>
          </a:bodyPr>
          <a:lstStyle/>
          <a:p>
            <a:pPr rtl="0"/>
            <a:r>
              <a:rPr lang="es-CL" noProof="0" dirty="0">
                <a:solidFill>
                  <a:srgbClr val="FFFFFF"/>
                </a:solidFill>
              </a:rPr>
              <a:t>-</a:t>
            </a:r>
            <a:r>
              <a:rPr lang="es-CL" noProof="0" dirty="0" err="1">
                <a:solidFill>
                  <a:srgbClr val="FFFFFF"/>
                </a:solidFill>
              </a:rPr>
              <a:t>insight</a:t>
            </a:r>
            <a:r>
              <a:rPr lang="es-CL" noProof="0" dirty="0">
                <a:solidFill>
                  <a:srgbClr val="FFFFFF"/>
                </a:solidFill>
              </a:rPr>
              <a:t> clave de su organización</a:t>
            </a:r>
          </a:p>
        </p:txBody>
      </p:sp>
      <p:pic>
        <p:nvPicPr>
          <p:cNvPr id="2052" name="Picture 4" descr="Imagen cargada">
            <a:extLst>
              <a:ext uri="{FF2B5EF4-FFF2-40B4-BE49-F238E27FC236}">
                <a16:creationId xmlns:a16="http://schemas.microsoft.com/office/drawing/2014/main" id="{FB10FA5E-906F-E8C2-8296-132ACF4971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4610" y="5146270"/>
            <a:ext cx="1518460" cy="1518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714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fecha 4">
            <a:extLst>
              <a:ext uri="{FF2B5EF4-FFF2-40B4-BE49-F238E27FC236}">
                <a16:creationId xmlns:a16="http://schemas.microsoft.com/office/drawing/2014/main" id="{B8319493-2958-1EED-8D05-122E00B4CC10}"/>
              </a:ext>
            </a:extLst>
          </p:cNvPr>
          <p:cNvSpPr>
            <a:spLocks noGrp="1"/>
          </p:cNvSpPr>
          <p:nvPr>
            <p:ph type="dt" sz="half" idx="10"/>
          </p:nvPr>
        </p:nvSpPr>
        <p:spPr/>
        <p:txBody>
          <a:bodyPr/>
          <a:lstStyle/>
          <a:p>
            <a:pPr rtl="0"/>
            <a:fld id="{EB264D6B-F770-42EA-A416-77765C2D9E77}" type="datetime1">
              <a:rPr lang="es-CL" noProof="0" smtClean="0"/>
              <a:t>30-03-2026</a:t>
            </a:fld>
            <a:endParaRPr lang="es-CL" noProof="0" dirty="0"/>
          </a:p>
        </p:txBody>
      </p:sp>
      <p:sp>
        <p:nvSpPr>
          <p:cNvPr id="24" name="Título 1">
            <a:extLst>
              <a:ext uri="{FF2B5EF4-FFF2-40B4-BE49-F238E27FC236}">
                <a16:creationId xmlns:a16="http://schemas.microsoft.com/office/drawing/2014/main" id="{132C0B58-BE29-2DBC-60FD-095C5A0160DE}"/>
              </a:ext>
            </a:extLst>
          </p:cNvPr>
          <p:cNvSpPr txBox="1">
            <a:spLocks/>
          </p:cNvSpPr>
          <p:nvPr/>
        </p:nvSpPr>
        <p:spPr>
          <a:xfrm>
            <a:off x="643465" y="767759"/>
            <a:ext cx="3517567" cy="741007"/>
          </a:xfrm>
          <a:prstGeom prst="rect">
            <a:avLst/>
          </a:prstGeom>
          <a:ln>
            <a:solidFill>
              <a:schemeClr val="bg1"/>
            </a:solidFill>
          </a:ln>
        </p:spPr>
        <p:txBody>
          <a:bodyPr vert="horz" lIns="91440" tIns="45720" rIns="91440" bIns="45720" rtlCol="0" anchor="b">
            <a:normAutofit/>
          </a:bodyPr>
          <a:lstStyle>
            <a:lvl1pPr algn="l" defTabSz="914400" rtl="0" eaLnBrk="1" latinLnBrk="0" hangingPunct="1">
              <a:lnSpc>
                <a:spcPct val="90000"/>
              </a:lnSpc>
              <a:spcBef>
                <a:spcPct val="0"/>
              </a:spcBef>
              <a:buNone/>
              <a:defRPr sz="3600" b="0" i="0" kern="1200" spc="-50" baseline="0">
                <a:solidFill>
                  <a:srgbClr val="FFFFFF"/>
                </a:solidFill>
                <a:latin typeface="+mj-lt"/>
                <a:ea typeface="+mj-ea"/>
                <a:cs typeface="+mj-cs"/>
              </a:defRPr>
            </a:lvl1pPr>
          </a:lstStyle>
          <a:p>
            <a:pPr algn="ctr"/>
            <a:r>
              <a:rPr lang="es-CL" dirty="0"/>
              <a:t>Hallazgos</a:t>
            </a:r>
          </a:p>
        </p:txBody>
      </p:sp>
      <p:pic>
        <p:nvPicPr>
          <p:cNvPr id="28" name="Imagen 27">
            <a:extLst>
              <a:ext uri="{FF2B5EF4-FFF2-40B4-BE49-F238E27FC236}">
                <a16:creationId xmlns:a16="http://schemas.microsoft.com/office/drawing/2014/main" id="{231875D3-ECC6-F4CA-95E0-C5E13A4A06D6}"/>
              </a:ext>
            </a:extLst>
          </p:cNvPr>
          <p:cNvPicPr>
            <a:picLocks noChangeAspect="1"/>
          </p:cNvPicPr>
          <p:nvPr/>
        </p:nvPicPr>
        <p:blipFill>
          <a:blip r:embed="rId2"/>
          <a:srcRect l="949"/>
          <a:stretch>
            <a:fillRect/>
          </a:stretch>
        </p:blipFill>
        <p:spPr>
          <a:xfrm>
            <a:off x="1260501" y="1680512"/>
            <a:ext cx="2283494" cy="1190791"/>
          </a:xfrm>
          <a:prstGeom prst="rect">
            <a:avLst/>
          </a:prstGeom>
        </p:spPr>
      </p:pic>
      <p:pic>
        <p:nvPicPr>
          <p:cNvPr id="30" name="Imagen 29">
            <a:extLst>
              <a:ext uri="{FF2B5EF4-FFF2-40B4-BE49-F238E27FC236}">
                <a16:creationId xmlns:a16="http://schemas.microsoft.com/office/drawing/2014/main" id="{6F67CB8E-AF50-6404-E198-0CA7406F9087}"/>
              </a:ext>
            </a:extLst>
          </p:cNvPr>
          <p:cNvPicPr>
            <a:picLocks noChangeAspect="1"/>
          </p:cNvPicPr>
          <p:nvPr/>
        </p:nvPicPr>
        <p:blipFill>
          <a:blip r:embed="rId3"/>
          <a:stretch>
            <a:fillRect/>
          </a:stretch>
        </p:blipFill>
        <p:spPr>
          <a:xfrm>
            <a:off x="5413248" y="533537"/>
            <a:ext cx="6301134" cy="2666864"/>
          </a:xfrm>
          <a:prstGeom prst="rect">
            <a:avLst/>
          </a:prstGeom>
        </p:spPr>
      </p:pic>
      <p:pic>
        <p:nvPicPr>
          <p:cNvPr id="34" name="Imagen 33">
            <a:extLst>
              <a:ext uri="{FF2B5EF4-FFF2-40B4-BE49-F238E27FC236}">
                <a16:creationId xmlns:a16="http://schemas.microsoft.com/office/drawing/2014/main" id="{B69BA71A-E34E-3647-715B-E3E52E2ACE9A}"/>
              </a:ext>
            </a:extLst>
          </p:cNvPr>
          <p:cNvPicPr>
            <a:picLocks noChangeAspect="1"/>
          </p:cNvPicPr>
          <p:nvPr/>
        </p:nvPicPr>
        <p:blipFill>
          <a:blip r:embed="rId4"/>
          <a:stretch>
            <a:fillRect/>
          </a:stretch>
        </p:blipFill>
        <p:spPr>
          <a:xfrm>
            <a:off x="5413248" y="3772424"/>
            <a:ext cx="6301134" cy="2666864"/>
          </a:xfrm>
          <a:prstGeom prst="rect">
            <a:avLst/>
          </a:prstGeom>
        </p:spPr>
      </p:pic>
      <p:sp>
        <p:nvSpPr>
          <p:cNvPr id="35" name="Marcador de texto 3">
            <a:extLst>
              <a:ext uri="{FF2B5EF4-FFF2-40B4-BE49-F238E27FC236}">
                <a16:creationId xmlns:a16="http://schemas.microsoft.com/office/drawing/2014/main" id="{FFCC9B39-FE03-AE36-338F-29CDE80BC2C7}"/>
              </a:ext>
            </a:extLst>
          </p:cNvPr>
          <p:cNvSpPr>
            <a:spLocks noGrp="1"/>
          </p:cNvSpPr>
          <p:nvPr>
            <p:ph type="body" sz="half" idx="2"/>
          </p:nvPr>
        </p:nvSpPr>
        <p:spPr>
          <a:xfrm>
            <a:off x="643465" y="3043050"/>
            <a:ext cx="3517567" cy="3064505"/>
          </a:xfrm>
        </p:spPr>
        <p:txBody>
          <a:bodyPr/>
          <a:lstStyle/>
          <a:p>
            <a:pPr algn="ctr"/>
            <a:r>
              <a:rPr lang="es-CL" dirty="0"/>
              <a:t>Se evidencia una diferencia significativa entre los totales de cada año, </a:t>
            </a:r>
            <a:r>
              <a:rPr lang="es-CL" dirty="0" err="1"/>
              <a:t>aporx</a:t>
            </a:r>
            <a:r>
              <a:rPr lang="es-CL" dirty="0"/>
              <a:t>. 300 mil euros por debajo en 2024.</a:t>
            </a:r>
          </a:p>
          <a:p>
            <a:pPr algn="ctr"/>
            <a:r>
              <a:rPr lang="es-CL" dirty="0"/>
              <a:t>Podemos notar que la debilidad por estación en el año 2023 es entre junio y octubre, mientras que en el año 2024 es desde octubre en adelante.</a:t>
            </a:r>
          </a:p>
        </p:txBody>
      </p:sp>
    </p:spTree>
    <p:extLst>
      <p:ext uri="{BB962C8B-B14F-4D97-AF65-F5344CB8AC3E}">
        <p14:creationId xmlns:p14="http://schemas.microsoft.com/office/powerpoint/2010/main" val="868095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fecha 4">
            <a:extLst>
              <a:ext uri="{FF2B5EF4-FFF2-40B4-BE49-F238E27FC236}">
                <a16:creationId xmlns:a16="http://schemas.microsoft.com/office/drawing/2014/main" id="{D384481F-06E3-4C4E-C930-7F7D09AB8D63}"/>
              </a:ext>
            </a:extLst>
          </p:cNvPr>
          <p:cNvSpPr>
            <a:spLocks noGrp="1"/>
          </p:cNvSpPr>
          <p:nvPr>
            <p:ph type="dt" sz="half" idx="10"/>
          </p:nvPr>
        </p:nvSpPr>
        <p:spPr/>
        <p:txBody>
          <a:bodyPr/>
          <a:lstStyle/>
          <a:p>
            <a:pPr rtl="0"/>
            <a:fld id="{F3EBED02-4679-462C-830F-722888DF8E2D}" type="datetime1">
              <a:rPr lang="es-ES" smtClean="0"/>
              <a:t>30/03/2026</a:t>
            </a:fld>
            <a:endParaRPr lang="en-US" dirty="0"/>
          </a:p>
        </p:txBody>
      </p:sp>
      <p:pic>
        <p:nvPicPr>
          <p:cNvPr id="23" name="Imagen 22">
            <a:extLst>
              <a:ext uri="{FF2B5EF4-FFF2-40B4-BE49-F238E27FC236}">
                <a16:creationId xmlns:a16="http://schemas.microsoft.com/office/drawing/2014/main" id="{179E4C1B-8D87-1F2D-2E8A-EC6BED979D55}"/>
              </a:ext>
            </a:extLst>
          </p:cNvPr>
          <p:cNvPicPr>
            <a:picLocks noChangeAspect="1"/>
          </p:cNvPicPr>
          <p:nvPr/>
        </p:nvPicPr>
        <p:blipFill>
          <a:blip r:embed="rId2"/>
          <a:stretch>
            <a:fillRect/>
          </a:stretch>
        </p:blipFill>
        <p:spPr>
          <a:xfrm>
            <a:off x="5359777" y="4721022"/>
            <a:ext cx="1865376" cy="1182168"/>
          </a:xfrm>
          <a:prstGeom prst="rect">
            <a:avLst/>
          </a:prstGeom>
        </p:spPr>
      </p:pic>
      <p:pic>
        <p:nvPicPr>
          <p:cNvPr id="11" name="Imagen 10">
            <a:extLst>
              <a:ext uri="{FF2B5EF4-FFF2-40B4-BE49-F238E27FC236}">
                <a16:creationId xmlns:a16="http://schemas.microsoft.com/office/drawing/2014/main" id="{390DF166-8F7D-27BC-1E1D-A39D6BEBE5BB}"/>
              </a:ext>
            </a:extLst>
          </p:cNvPr>
          <p:cNvPicPr>
            <a:picLocks noChangeAspect="1"/>
          </p:cNvPicPr>
          <p:nvPr/>
        </p:nvPicPr>
        <p:blipFill>
          <a:blip r:embed="rId3"/>
          <a:stretch>
            <a:fillRect/>
          </a:stretch>
        </p:blipFill>
        <p:spPr>
          <a:xfrm>
            <a:off x="6968566" y="299576"/>
            <a:ext cx="2853508" cy="1182168"/>
          </a:xfrm>
          <a:prstGeom prst="rect">
            <a:avLst/>
          </a:prstGeom>
        </p:spPr>
      </p:pic>
      <p:pic>
        <p:nvPicPr>
          <p:cNvPr id="13" name="Imagen 12">
            <a:extLst>
              <a:ext uri="{FF2B5EF4-FFF2-40B4-BE49-F238E27FC236}">
                <a16:creationId xmlns:a16="http://schemas.microsoft.com/office/drawing/2014/main" id="{15906344-FA5E-547A-38C4-E5174A6C0AF1}"/>
              </a:ext>
            </a:extLst>
          </p:cNvPr>
          <p:cNvPicPr>
            <a:picLocks noChangeAspect="1"/>
          </p:cNvPicPr>
          <p:nvPr/>
        </p:nvPicPr>
        <p:blipFill>
          <a:blip r:embed="rId4"/>
          <a:stretch>
            <a:fillRect/>
          </a:stretch>
        </p:blipFill>
        <p:spPr>
          <a:xfrm>
            <a:off x="8423898" y="4516658"/>
            <a:ext cx="3153215" cy="1590897"/>
          </a:xfrm>
          <a:prstGeom prst="rect">
            <a:avLst/>
          </a:prstGeom>
        </p:spPr>
      </p:pic>
      <p:pic>
        <p:nvPicPr>
          <p:cNvPr id="15" name="Imagen 14">
            <a:extLst>
              <a:ext uri="{FF2B5EF4-FFF2-40B4-BE49-F238E27FC236}">
                <a16:creationId xmlns:a16="http://schemas.microsoft.com/office/drawing/2014/main" id="{57448311-8CAC-A56E-558A-C1CA1F9E060F}"/>
              </a:ext>
            </a:extLst>
          </p:cNvPr>
          <p:cNvPicPr>
            <a:picLocks noChangeAspect="1"/>
          </p:cNvPicPr>
          <p:nvPr/>
        </p:nvPicPr>
        <p:blipFill>
          <a:blip r:embed="rId5"/>
          <a:stretch>
            <a:fillRect/>
          </a:stretch>
        </p:blipFill>
        <p:spPr>
          <a:xfrm>
            <a:off x="8423898" y="1934983"/>
            <a:ext cx="3124636" cy="1590897"/>
          </a:xfrm>
          <a:prstGeom prst="rect">
            <a:avLst/>
          </a:prstGeom>
        </p:spPr>
      </p:pic>
      <p:pic>
        <p:nvPicPr>
          <p:cNvPr id="17" name="Imagen 16">
            <a:extLst>
              <a:ext uri="{FF2B5EF4-FFF2-40B4-BE49-F238E27FC236}">
                <a16:creationId xmlns:a16="http://schemas.microsoft.com/office/drawing/2014/main" id="{C744091A-6D0D-F9B0-01A2-6FC81E733097}"/>
              </a:ext>
            </a:extLst>
          </p:cNvPr>
          <p:cNvPicPr>
            <a:picLocks noChangeAspect="1"/>
          </p:cNvPicPr>
          <p:nvPr/>
        </p:nvPicPr>
        <p:blipFill>
          <a:blip r:embed="rId6"/>
          <a:stretch>
            <a:fillRect/>
          </a:stretch>
        </p:blipFill>
        <p:spPr>
          <a:xfrm>
            <a:off x="5345487" y="2139347"/>
            <a:ext cx="1865376" cy="1182168"/>
          </a:xfrm>
          <a:prstGeom prst="rect">
            <a:avLst/>
          </a:prstGeom>
        </p:spPr>
      </p:pic>
      <p:pic>
        <p:nvPicPr>
          <p:cNvPr id="5122" name="Picture 2" descr="Imagen cargada">
            <a:extLst>
              <a:ext uri="{FF2B5EF4-FFF2-40B4-BE49-F238E27FC236}">
                <a16:creationId xmlns:a16="http://schemas.microsoft.com/office/drawing/2014/main" id="{D5A57ACE-7DE7-0019-0C3D-DE122011E4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79289" y="1985195"/>
            <a:ext cx="1490472" cy="149047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Imagen cargada">
            <a:extLst>
              <a:ext uri="{FF2B5EF4-FFF2-40B4-BE49-F238E27FC236}">
                <a16:creationId xmlns:a16="http://schemas.microsoft.com/office/drawing/2014/main" id="{F4A74BED-62E6-45A3-BC4B-7724ECE0AA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79289" y="4566870"/>
            <a:ext cx="1490472" cy="1490472"/>
          </a:xfrm>
          <a:prstGeom prst="rect">
            <a:avLst/>
          </a:prstGeom>
          <a:noFill/>
          <a:extLst>
            <a:ext uri="{909E8E84-426E-40DD-AFC4-6F175D3DCCD1}">
              <a14:hiddenFill xmlns:a14="http://schemas.microsoft.com/office/drawing/2010/main">
                <a:solidFill>
                  <a:srgbClr val="FFFFFF"/>
                </a:solidFill>
              </a14:hiddenFill>
            </a:ext>
          </a:extLst>
        </p:spPr>
      </p:pic>
      <p:sp>
        <p:nvSpPr>
          <p:cNvPr id="22" name="Título 1">
            <a:extLst>
              <a:ext uri="{FF2B5EF4-FFF2-40B4-BE49-F238E27FC236}">
                <a16:creationId xmlns:a16="http://schemas.microsoft.com/office/drawing/2014/main" id="{9C9DDFEA-9C9C-2188-93AF-BEEE97C4E9AD}"/>
              </a:ext>
            </a:extLst>
          </p:cNvPr>
          <p:cNvSpPr txBox="1">
            <a:spLocks/>
          </p:cNvSpPr>
          <p:nvPr/>
        </p:nvSpPr>
        <p:spPr>
          <a:xfrm>
            <a:off x="643465" y="767759"/>
            <a:ext cx="3517567" cy="741007"/>
          </a:xfrm>
          <a:prstGeom prst="rect">
            <a:avLst/>
          </a:prstGeom>
          <a:ln>
            <a:solidFill>
              <a:schemeClr val="bg1"/>
            </a:solidFill>
          </a:ln>
        </p:spPr>
        <p:txBody>
          <a:bodyPr vert="horz" lIns="91440" tIns="45720" rIns="91440" bIns="45720" rtlCol="0" anchor="b">
            <a:normAutofit/>
          </a:bodyPr>
          <a:lstStyle>
            <a:lvl1pPr algn="l" defTabSz="914400" rtl="0" eaLnBrk="1" latinLnBrk="0" hangingPunct="1">
              <a:lnSpc>
                <a:spcPct val="90000"/>
              </a:lnSpc>
              <a:spcBef>
                <a:spcPct val="0"/>
              </a:spcBef>
              <a:buNone/>
              <a:defRPr sz="3600" b="0" i="0" kern="1200" spc="-50" baseline="0">
                <a:solidFill>
                  <a:srgbClr val="FFFFFF"/>
                </a:solidFill>
                <a:latin typeface="+mj-lt"/>
                <a:ea typeface="+mj-ea"/>
                <a:cs typeface="+mj-cs"/>
              </a:defRPr>
            </a:lvl1pPr>
          </a:lstStyle>
          <a:p>
            <a:pPr algn="ctr"/>
            <a:r>
              <a:rPr lang="es-CL" dirty="0"/>
              <a:t>Hallazgos</a:t>
            </a:r>
          </a:p>
        </p:txBody>
      </p:sp>
      <p:sp>
        <p:nvSpPr>
          <p:cNvPr id="24" name="Marcador de texto 3">
            <a:extLst>
              <a:ext uri="{FF2B5EF4-FFF2-40B4-BE49-F238E27FC236}">
                <a16:creationId xmlns:a16="http://schemas.microsoft.com/office/drawing/2014/main" id="{29106501-B0C5-C78F-B117-7D431F0E9F9F}"/>
              </a:ext>
            </a:extLst>
          </p:cNvPr>
          <p:cNvSpPr txBox="1">
            <a:spLocks/>
          </p:cNvSpPr>
          <p:nvPr/>
        </p:nvSpPr>
        <p:spPr>
          <a:xfrm>
            <a:off x="554370" y="2445390"/>
            <a:ext cx="3517567" cy="3064505"/>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None/>
              <a:defRPr sz="1800" kern="1200">
                <a:solidFill>
                  <a:srgbClr val="FFFFFF"/>
                </a:solidFill>
                <a:latin typeface="+mn-lt"/>
                <a:ea typeface="+mn-ea"/>
                <a:cs typeface="+mn-cs"/>
              </a:defRPr>
            </a:lvl1pPr>
            <a:lvl2pPr marL="457200" indent="0" algn="l" defTabSz="914400" rtl="0" eaLnBrk="1" latinLnBrk="0" hangingPunct="1">
              <a:lnSpc>
                <a:spcPct val="100000"/>
              </a:lnSpc>
              <a:spcBef>
                <a:spcPts val="200"/>
              </a:spcBef>
              <a:spcAft>
                <a:spcPts val="400"/>
              </a:spcAft>
              <a:buClrTx/>
              <a:buFont typeface="Calibri" pitchFamily="34" charset="0"/>
              <a:buNone/>
              <a:defRPr sz="1200" kern="120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200"/>
              </a:spcBef>
              <a:spcAft>
                <a:spcPts val="400"/>
              </a:spcAft>
              <a:buClrTx/>
              <a:buFont typeface="Calibri" pitchFamily="34" charset="0"/>
              <a:buNone/>
              <a:defRPr sz="1000" kern="120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200"/>
              </a:spcBef>
              <a:spcAft>
                <a:spcPts val="400"/>
              </a:spcAft>
              <a:buClrTx/>
              <a:buFont typeface="Calibri" pitchFamily="34" charset="0"/>
              <a:buNone/>
              <a:defRPr sz="900" kern="120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200"/>
              </a:spcBef>
              <a:spcAft>
                <a:spcPts val="400"/>
              </a:spcAft>
              <a:buClrTx/>
              <a:buFont typeface="Calibri" pitchFamily="34" charset="0"/>
              <a:buNone/>
              <a:defRPr sz="900"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9pPr>
          </a:lstStyle>
          <a:p>
            <a:pPr algn="ctr"/>
            <a:r>
              <a:rPr lang="es-CL" dirty="0"/>
              <a:t>Existe una diferencia significativa entre las ventas realizadas de cada año, </a:t>
            </a:r>
            <a:r>
              <a:rPr lang="es-CL" dirty="0" err="1"/>
              <a:t>aporx</a:t>
            </a:r>
            <a:r>
              <a:rPr lang="es-CL" dirty="0"/>
              <a:t>. 40 ventas por encima en 2024.</a:t>
            </a:r>
          </a:p>
          <a:p>
            <a:pPr algn="ctr"/>
            <a:r>
              <a:rPr lang="es-CL" dirty="0"/>
              <a:t>Si bien contamos con una mayor cantidad de ventas en 2024 el cumplimiento de las metas propuestas está debajo del año 2023 por un 8%.</a:t>
            </a:r>
            <a:r>
              <a:rPr lang="es-MX" dirty="0"/>
              <a:t> </a:t>
            </a:r>
          </a:p>
          <a:p>
            <a:pPr algn="ctr"/>
            <a:r>
              <a:rPr lang="es-MX" dirty="0"/>
              <a:t>A pesar del aumento en volumen de ventas, la caída en ingresos evidencia una pérdida de eficiencia comercial que debe ser corregida mediante una mejor planificación estratégica</a:t>
            </a:r>
            <a:endParaRPr lang="es-CL" dirty="0"/>
          </a:p>
          <a:p>
            <a:pPr algn="ctr"/>
            <a:endParaRPr lang="es-CL" dirty="0"/>
          </a:p>
        </p:txBody>
      </p:sp>
    </p:spTree>
    <p:extLst>
      <p:ext uri="{BB962C8B-B14F-4D97-AF65-F5344CB8AC3E}">
        <p14:creationId xmlns:p14="http://schemas.microsoft.com/office/powerpoint/2010/main" val="1953171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fecha 4">
            <a:extLst>
              <a:ext uri="{FF2B5EF4-FFF2-40B4-BE49-F238E27FC236}">
                <a16:creationId xmlns:a16="http://schemas.microsoft.com/office/drawing/2014/main" id="{93A0AAA9-D7DF-E69B-3DAB-5584D937153A}"/>
              </a:ext>
            </a:extLst>
          </p:cNvPr>
          <p:cNvSpPr>
            <a:spLocks noGrp="1"/>
          </p:cNvSpPr>
          <p:nvPr>
            <p:ph type="dt" sz="half" idx="10"/>
          </p:nvPr>
        </p:nvSpPr>
        <p:spPr/>
        <p:txBody>
          <a:bodyPr/>
          <a:lstStyle/>
          <a:p>
            <a:pPr rtl="0"/>
            <a:fld id="{F3EBED02-4679-462C-830F-722888DF8E2D}" type="datetime1">
              <a:rPr lang="es-ES" smtClean="0"/>
              <a:t>30/03/2026</a:t>
            </a:fld>
            <a:endParaRPr lang="en-US" dirty="0"/>
          </a:p>
        </p:txBody>
      </p:sp>
      <p:pic>
        <p:nvPicPr>
          <p:cNvPr id="12" name="Imagen 11">
            <a:extLst>
              <a:ext uri="{FF2B5EF4-FFF2-40B4-BE49-F238E27FC236}">
                <a16:creationId xmlns:a16="http://schemas.microsoft.com/office/drawing/2014/main" id="{14BFA22A-AFBC-DAB4-5034-CBE7C617AB23}"/>
              </a:ext>
            </a:extLst>
          </p:cNvPr>
          <p:cNvPicPr>
            <a:picLocks noChangeAspect="1"/>
          </p:cNvPicPr>
          <p:nvPr/>
        </p:nvPicPr>
        <p:blipFill>
          <a:blip r:embed="rId2"/>
          <a:stretch>
            <a:fillRect/>
          </a:stretch>
        </p:blipFill>
        <p:spPr>
          <a:xfrm>
            <a:off x="4916503" y="511012"/>
            <a:ext cx="7059010" cy="5706271"/>
          </a:xfrm>
          <a:prstGeom prst="rect">
            <a:avLst/>
          </a:prstGeom>
        </p:spPr>
      </p:pic>
      <p:sp>
        <p:nvSpPr>
          <p:cNvPr id="13" name="Título 1">
            <a:extLst>
              <a:ext uri="{FF2B5EF4-FFF2-40B4-BE49-F238E27FC236}">
                <a16:creationId xmlns:a16="http://schemas.microsoft.com/office/drawing/2014/main" id="{1C5C59B5-33E4-4654-CE5C-93775E0942AE}"/>
              </a:ext>
            </a:extLst>
          </p:cNvPr>
          <p:cNvSpPr txBox="1">
            <a:spLocks/>
          </p:cNvSpPr>
          <p:nvPr/>
        </p:nvSpPr>
        <p:spPr>
          <a:xfrm>
            <a:off x="643465" y="767759"/>
            <a:ext cx="3517567" cy="741007"/>
          </a:xfrm>
          <a:prstGeom prst="rect">
            <a:avLst/>
          </a:prstGeom>
          <a:ln>
            <a:solidFill>
              <a:schemeClr val="bg1"/>
            </a:solidFill>
          </a:ln>
        </p:spPr>
        <p:txBody>
          <a:bodyPr vert="horz" lIns="91440" tIns="45720" rIns="91440" bIns="45720" rtlCol="0" anchor="b">
            <a:normAutofit/>
          </a:bodyPr>
          <a:lstStyle>
            <a:lvl1pPr algn="l" defTabSz="914400" rtl="0" eaLnBrk="1" latinLnBrk="0" hangingPunct="1">
              <a:lnSpc>
                <a:spcPct val="90000"/>
              </a:lnSpc>
              <a:spcBef>
                <a:spcPct val="0"/>
              </a:spcBef>
              <a:buNone/>
              <a:defRPr sz="3600" b="0" i="0" kern="1200" spc="-50" baseline="0">
                <a:solidFill>
                  <a:srgbClr val="FFFFFF"/>
                </a:solidFill>
                <a:latin typeface="+mj-lt"/>
                <a:ea typeface="+mj-ea"/>
                <a:cs typeface="+mj-cs"/>
              </a:defRPr>
            </a:lvl1pPr>
          </a:lstStyle>
          <a:p>
            <a:pPr algn="ctr"/>
            <a:r>
              <a:rPr lang="es-CL" dirty="0"/>
              <a:t>Hallazgos</a:t>
            </a:r>
          </a:p>
        </p:txBody>
      </p:sp>
      <p:sp>
        <p:nvSpPr>
          <p:cNvPr id="14" name="Marcador de texto 3">
            <a:extLst>
              <a:ext uri="{FF2B5EF4-FFF2-40B4-BE49-F238E27FC236}">
                <a16:creationId xmlns:a16="http://schemas.microsoft.com/office/drawing/2014/main" id="{5F425F17-08C5-3B95-FB51-B200443CF246}"/>
              </a:ext>
            </a:extLst>
          </p:cNvPr>
          <p:cNvSpPr txBox="1">
            <a:spLocks/>
          </p:cNvSpPr>
          <p:nvPr/>
        </p:nvSpPr>
        <p:spPr>
          <a:xfrm>
            <a:off x="554370" y="2445390"/>
            <a:ext cx="3517567" cy="3064505"/>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None/>
              <a:defRPr sz="1800" kern="1200">
                <a:solidFill>
                  <a:srgbClr val="FFFFFF"/>
                </a:solidFill>
                <a:latin typeface="+mn-lt"/>
                <a:ea typeface="+mn-ea"/>
                <a:cs typeface="+mn-cs"/>
              </a:defRPr>
            </a:lvl1pPr>
            <a:lvl2pPr marL="457200" indent="0" algn="l" defTabSz="914400" rtl="0" eaLnBrk="1" latinLnBrk="0" hangingPunct="1">
              <a:lnSpc>
                <a:spcPct val="100000"/>
              </a:lnSpc>
              <a:spcBef>
                <a:spcPts val="200"/>
              </a:spcBef>
              <a:spcAft>
                <a:spcPts val="400"/>
              </a:spcAft>
              <a:buClrTx/>
              <a:buFont typeface="Calibri" pitchFamily="34" charset="0"/>
              <a:buNone/>
              <a:defRPr sz="1200" kern="120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200"/>
              </a:spcBef>
              <a:spcAft>
                <a:spcPts val="400"/>
              </a:spcAft>
              <a:buClrTx/>
              <a:buFont typeface="Calibri" pitchFamily="34" charset="0"/>
              <a:buNone/>
              <a:defRPr sz="1000" kern="120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200"/>
              </a:spcBef>
              <a:spcAft>
                <a:spcPts val="400"/>
              </a:spcAft>
              <a:buClrTx/>
              <a:buFont typeface="Calibri" pitchFamily="34" charset="0"/>
              <a:buNone/>
              <a:defRPr sz="900" kern="120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200"/>
              </a:spcBef>
              <a:spcAft>
                <a:spcPts val="400"/>
              </a:spcAft>
              <a:buClrTx/>
              <a:buFont typeface="Calibri" pitchFamily="34" charset="0"/>
              <a:buNone/>
              <a:defRPr sz="900"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9pPr>
          </a:lstStyle>
          <a:p>
            <a:pPr algn="ctr"/>
            <a:r>
              <a:rPr lang="es-CL" dirty="0"/>
              <a:t>Hay una diferencia de alto impacto entre las ventas realizadas en determinadas sucursales del país dependiendo de su región igualmente.</a:t>
            </a:r>
          </a:p>
          <a:p>
            <a:pPr algn="ctr"/>
            <a:r>
              <a:rPr lang="es-CL" dirty="0"/>
              <a:t>La brecha entre sucursales es significativa, con valores que van por sobre los 300 mil euros.</a:t>
            </a:r>
          </a:p>
        </p:txBody>
      </p:sp>
    </p:spTree>
    <p:extLst>
      <p:ext uri="{BB962C8B-B14F-4D97-AF65-F5344CB8AC3E}">
        <p14:creationId xmlns:p14="http://schemas.microsoft.com/office/powerpoint/2010/main" val="3537047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04B999D7-6933-DF04-A2A7-978E2387CE99}"/>
              </a:ext>
            </a:extLst>
          </p:cNvPr>
          <p:cNvSpPr>
            <a:spLocks noGrp="1"/>
          </p:cNvSpPr>
          <p:nvPr>
            <p:ph type="body" sz="half" idx="2"/>
          </p:nvPr>
        </p:nvSpPr>
        <p:spPr>
          <a:xfrm>
            <a:off x="5440679" y="4837176"/>
            <a:ext cx="5952745" cy="1487424"/>
          </a:xfrm>
        </p:spPr>
        <p:txBody>
          <a:bodyPr>
            <a:normAutofit fontScale="92500" lnSpcReduction="20000"/>
          </a:bodyPr>
          <a:lstStyle/>
          <a:p>
            <a:r>
              <a:rPr lang="es-CL" dirty="0"/>
              <a:t>Los datos muestran que en determinadas épocas del año existe una mayor cantidad de ventas por parte de los empleados.</a:t>
            </a:r>
          </a:p>
          <a:p>
            <a:r>
              <a:rPr lang="es-CL" dirty="0"/>
              <a:t>Lo más alarmante es la diferencia que hay entre los meses, además de que algunos vendedores no generan ingresos en determinadas fechas.</a:t>
            </a:r>
          </a:p>
        </p:txBody>
      </p:sp>
      <p:sp>
        <p:nvSpPr>
          <p:cNvPr id="5" name="Marcador de fecha 4">
            <a:extLst>
              <a:ext uri="{FF2B5EF4-FFF2-40B4-BE49-F238E27FC236}">
                <a16:creationId xmlns:a16="http://schemas.microsoft.com/office/drawing/2014/main" id="{E2115351-4C71-1121-ADD0-78C88F02F8DC}"/>
              </a:ext>
            </a:extLst>
          </p:cNvPr>
          <p:cNvSpPr>
            <a:spLocks noGrp="1"/>
          </p:cNvSpPr>
          <p:nvPr>
            <p:ph type="dt" sz="half" idx="10"/>
          </p:nvPr>
        </p:nvSpPr>
        <p:spPr/>
        <p:txBody>
          <a:bodyPr/>
          <a:lstStyle/>
          <a:p>
            <a:pPr rtl="0"/>
            <a:fld id="{F3EBED02-4679-462C-830F-722888DF8E2D}" type="datetime1">
              <a:rPr lang="es-ES" smtClean="0"/>
              <a:t>30/03/2026</a:t>
            </a:fld>
            <a:endParaRPr lang="en-US" dirty="0"/>
          </a:p>
        </p:txBody>
      </p:sp>
      <p:pic>
        <p:nvPicPr>
          <p:cNvPr id="9" name="Marcador de posición de imagen 8">
            <a:extLst>
              <a:ext uri="{FF2B5EF4-FFF2-40B4-BE49-F238E27FC236}">
                <a16:creationId xmlns:a16="http://schemas.microsoft.com/office/drawing/2014/main" id="{F87F416F-DB89-A279-9B18-8E9A853EA14C}"/>
              </a:ext>
            </a:extLst>
          </p:cNvPr>
          <p:cNvPicPr>
            <a:picLocks noGrp="1" noChangeAspect="1"/>
          </p:cNvPicPr>
          <p:nvPr>
            <p:ph type="pic" idx="1"/>
          </p:nvPr>
        </p:nvPicPr>
        <p:blipFill>
          <a:blip r:embed="rId2"/>
          <a:srcRect t="2188" b="2188"/>
          <a:stretch>
            <a:fillRect/>
          </a:stretch>
        </p:blipFill>
        <p:spPr>
          <a:xfrm>
            <a:off x="0" y="0"/>
            <a:ext cx="12192000" cy="4578350"/>
          </a:xfrm>
          <a:prstGeom prst="rect">
            <a:avLst/>
          </a:prstGeom>
        </p:spPr>
      </p:pic>
      <p:sp>
        <p:nvSpPr>
          <p:cNvPr id="11" name="Título 1">
            <a:extLst>
              <a:ext uri="{FF2B5EF4-FFF2-40B4-BE49-F238E27FC236}">
                <a16:creationId xmlns:a16="http://schemas.microsoft.com/office/drawing/2014/main" id="{92AAB798-6A3F-0DE1-4EFD-C114EE764879}"/>
              </a:ext>
            </a:extLst>
          </p:cNvPr>
          <p:cNvSpPr txBox="1">
            <a:spLocks/>
          </p:cNvSpPr>
          <p:nvPr/>
        </p:nvSpPr>
        <p:spPr>
          <a:xfrm>
            <a:off x="981076" y="5344496"/>
            <a:ext cx="3517567" cy="741007"/>
          </a:xfrm>
          <a:prstGeom prst="rect">
            <a:avLst/>
          </a:prstGeom>
          <a:ln>
            <a:solidFill>
              <a:schemeClr val="bg1"/>
            </a:solidFill>
          </a:ln>
        </p:spPr>
        <p:txBody>
          <a:bodyPr vert="horz" lIns="91440" tIns="45720" rIns="91440" bIns="45720" rtlCol="0" anchor="b">
            <a:normAutofit/>
          </a:bodyPr>
          <a:lstStyle>
            <a:lvl1pPr algn="l" defTabSz="914400" rtl="0" eaLnBrk="1" latinLnBrk="0" hangingPunct="1">
              <a:lnSpc>
                <a:spcPct val="90000"/>
              </a:lnSpc>
              <a:spcBef>
                <a:spcPct val="0"/>
              </a:spcBef>
              <a:buNone/>
              <a:defRPr sz="3600" b="0" i="0" kern="1200" spc="-50" baseline="0">
                <a:solidFill>
                  <a:srgbClr val="FFFFFF"/>
                </a:solidFill>
                <a:latin typeface="+mj-lt"/>
                <a:ea typeface="+mj-ea"/>
                <a:cs typeface="+mj-cs"/>
              </a:defRPr>
            </a:lvl1pPr>
          </a:lstStyle>
          <a:p>
            <a:pPr algn="ctr"/>
            <a:r>
              <a:rPr lang="es-CL" dirty="0"/>
              <a:t>Hallazgos</a:t>
            </a:r>
          </a:p>
        </p:txBody>
      </p:sp>
    </p:spTree>
    <p:extLst>
      <p:ext uri="{BB962C8B-B14F-4D97-AF65-F5344CB8AC3E}">
        <p14:creationId xmlns:p14="http://schemas.microsoft.com/office/powerpoint/2010/main" val="2411909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1">
            <a:extLst>
              <a:ext uri="{FF2B5EF4-FFF2-40B4-BE49-F238E27FC236}">
                <a16:creationId xmlns:a16="http://schemas.microsoft.com/office/drawing/2014/main" id="{86FD1CBC-962B-104B-C1B6-E52F735DF752}"/>
              </a:ext>
            </a:extLst>
          </p:cNvPr>
          <p:cNvSpPr>
            <a:spLocks noGrp="1"/>
          </p:cNvSpPr>
          <p:nvPr>
            <p:ph type="pic" idx="1"/>
          </p:nvPr>
        </p:nvSpPr>
        <p:spPr/>
        <p:txBody>
          <a:bodyPr/>
          <a:lstStyle/>
          <a:p>
            <a:endParaRPr lang="es-CL"/>
          </a:p>
        </p:txBody>
      </p:sp>
      <p:sp>
        <p:nvSpPr>
          <p:cNvPr id="5" name="Marcador de fecha 4">
            <a:extLst>
              <a:ext uri="{FF2B5EF4-FFF2-40B4-BE49-F238E27FC236}">
                <a16:creationId xmlns:a16="http://schemas.microsoft.com/office/drawing/2014/main" id="{1D138AF6-772C-01EA-3A6E-75119946CEB1}"/>
              </a:ext>
            </a:extLst>
          </p:cNvPr>
          <p:cNvSpPr>
            <a:spLocks noGrp="1"/>
          </p:cNvSpPr>
          <p:nvPr>
            <p:ph type="dt" sz="half" idx="10"/>
          </p:nvPr>
        </p:nvSpPr>
        <p:spPr/>
        <p:txBody>
          <a:bodyPr/>
          <a:lstStyle/>
          <a:p>
            <a:pPr rtl="0"/>
            <a:fld id="{EB264D6B-F770-42EA-A416-77765C2D9E77}" type="datetime1">
              <a:rPr lang="es-ES" smtClean="0"/>
              <a:t>30/03/2026</a:t>
            </a:fld>
            <a:endParaRPr lang="en-US" dirty="0"/>
          </a:p>
        </p:txBody>
      </p:sp>
      <p:pic>
        <p:nvPicPr>
          <p:cNvPr id="10" name="Imagen 9">
            <a:extLst>
              <a:ext uri="{FF2B5EF4-FFF2-40B4-BE49-F238E27FC236}">
                <a16:creationId xmlns:a16="http://schemas.microsoft.com/office/drawing/2014/main" id="{C9E36565-822C-C031-1E1A-1C55F7560AAA}"/>
              </a:ext>
            </a:extLst>
          </p:cNvPr>
          <p:cNvPicPr>
            <a:picLocks noChangeAspect="1"/>
          </p:cNvPicPr>
          <p:nvPr/>
        </p:nvPicPr>
        <p:blipFill>
          <a:blip r:embed="rId2"/>
          <a:stretch>
            <a:fillRect/>
          </a:stretch>
        </p:blipFill>
        <p:spPr>
          <a:xfrm>
            <a:off x="0" y="0"/>
            <a:ext cx="12192000" cy="4578350"/>
          </a:xfrm>
          <a:prstGeom prst="rect">
            <a:avLst/>
          </a:prstGeom>
        </p:spPr>
      </p:pic>
      <p:sp>
        <p:nvSpPr>
          <p:cNvPr id="7" name="Título 1">
            <a:extLst>
              <a:ext uri="{FF2B5EF4-FFF2-40B4-BE49-F238E27FC236}">
                <a16:creationId xmlns:a16="http://schemas.microsoft.com/office/drawing/2014/main" id="{5342656D-40CF-A1FB-227C-D1D79AA45D86}"/>
              </a:ext>
            </a:extLst>
          </p:cNvPr>
          <p:cNvSpPr txBox="1">
            <a:spLocks/>
          </p:cNvSpPr>
          <p:nvPr/>
        </p:nvSpPr>
        <p:spPr>
          <a:xfrm>
            <a:off x="981076" y="5344496"/>
            <a:ext cx="3517567" cy="741007"/>
          </a:xfrm>
          <a:prstGeom prst="rect">
            <a:avLst/>
          </a:prstGeom>
          <a:ln>
            <a:solidFill>
              <a:schemeClr val="bg1"/>
            </a:solidFill>
          </a:ln>
        </p:spPr>
        <p:txBody>
          <a:bodyPr vert="horz" lIns="91440" tIns="45720" rIns="91440" bIns="45720" rtlCol="0" anchor="b">
            <a:normAutofit/>
          </a:bodyPr>
          <a:lstStyle>
            <a:lvl1pPr algn="l" defTabSz="914400" rtl="0" eaLnBrk="1" latinLnBrk="0" hangingPunct="1">
              <a:lnSpc>
                <a:spcPct val="90000"/>
              </a:lnSpc>
              <a:spcBef>
                <a:spcPct val="0"/>
              </a:spcBef>
              <a:buNone/>
              <a:defRPr sz="3600" b="0" i="0" kern="1200" spc="-50" baseline="0">
                <a:solidFill>
                  <a:srgbClr val="FFFFFF"/>
                </a:solidFill>
                <a:latin typeface="+mj-lt"/>
                <a:ea typeface="+mj-ea"/>
                <a:cs typeface="+mj-cs"/>
              </a:defRPr>
            </a:lvl1pPr>
          </a:lstStyle>
          <a:p>
            <a:pPr algn="ctr"/>
            <a:r>
              <a:rPr lang="es-CL" dirty="0"/>
              <a:t>Hallazgos</a:t>
            </a:r>
          </a:p>
        </p:txBody>
      </p:sp>
      <p:sp>
        <p:nvSpPr>
          <p:cNvPr id="9" name="Marcador de texto 7">
            <a:extLst>
              <a:ext uri="{FF2B5EF4-FFF2-40B4-BE49-F238E27FC236}">
                <a16:creationId xmlns:a16="http://schemas.microsoft.com/office/drawing/2014/main" id="{FB58D482-E23B-D6C1-34DA-42442A8ABA0A}"/>
              </a:ext>
            </a:extLst>
          </p:cNvPr>
          <p:cNvSpPr txBox="1">
            <a:spLocks/>
          </p:cNvSpPr>
          <p:nvPr/>
        </p:nvSpPr>
        <p:spPr>
          <a:xfrm>
            <a:off x="5593079" y="4989576"/>
            <a:ext cx="5952745" cy="1487424"/>
          </a:xfrm>
          <a:prstGeom prst="rect">
            <a:avLst/>
          </a:prstGeom>
        </p:spPr>
        <p:txBody>
          <a:bodyPr vert="horz" lIns="91440" tIns="0" rIns="91440" bIns="0" rtlCol="0">
            <a:normAutofit lnSpcReduction="10000"/>
          </a:bodyPr>
          <a:lstStyle>
            <a:lvl1pPr marL="0" indent="0" algn="l" defTabSz="914400" rtl="0" eaLnBrk="1" latinLnBrk="0" hangingPunct="1">
              <a:lnSpc>
                <a:spcPct val="110000"/>
              </a:lnSpc>
              <a:spcBef>
                <a:spcPts val="0"/>
              </a:spcBef>
              <a:spcAft>
                <a:spcPts val="600"/>
              </a:spcAft>
              <a:buClr>
                <a:schemeClr val="accent1"/>
              </a:buClr>
              <a:buSzPct val="100000"/>
              <a:buFont typeface="Calibri" panose="020F0502020204030204" pitchFamily="34" charset="0"/>
              <a:buNone/>
              <a:defRPr sz="1800" kern="1200">
                <a:solidFill>
                  <a:srgbClr val="FFFFFF"/>
                </a:solidFill>
                <a:latin typeface="+mn-lt"/>
                <a:ea typeface="+mn-ea"/>
                <a:cs typeface="+mn-cs"/>
              </a:defRPr>
            </a:lvl1pPr>
            <a:lvl2pPr marL="457200" indent="0" algn="l" defTabSz="914400" rtl="0" eaLnBrk="1" latinLnBrk="0" hangingPunct="1">
              <a:lnSpc>
                <a:spcPct val="100000"/>
              </a:lnSpc>
              <a:spcBef>
                <a:spcPts val="200"/>
              </a:spcBef>
              <a:spcAft>
                <a:spcPts val="400"/>
              </a:spcAft>
              <a:buClrTx/>
              <a:buFont typeface="Calibri" pitchFamily="34" charset="0"/>
              <a:buNone/>
              <a:defRPr sz="1200" kern="120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200"/>
              </a:spcBef>
              <a:spcAft>
                <a:spcPts val="400"/>
              </a:spcAft>
              <a:buClrTx/>
              <a:buFont typeface="Calibri" pitchFamily="34" charset="0"/>
              <a:buNone/>
              <a:defRPr sz="1000" kern="120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200"/>
              </a:spcBef>
              <a:spcAft>
                <a:spcPts val="400"/>
              </a:spcAft>
              <a:buClrTx/>
              <a:buFont typeface="Calibri" pitchFamily="34" charset="0"/>
              <a:buNone/>
              <a:defRPr sz="900" kern="120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200"/>
              </a:spcBef>
              <a:spcAft>
                <a:spcPts val="400"/>
              </a:spcAft>
              <a:buClrTx/>
              <a:buFont typeface="Calibri" pitchFamily="34" charset="0"/>
              <a:buNone/>
              <a:defRPr sz="900"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9pPr>
          </a:lstStyle>
          <a:p>
            <a:r>
              <a:rPr lang="es-CL" dirty="0"/>
              <a:t>Se observa que en determinadas épocas del año existe una mayor cantidad de ventas por parte de los empleados.</a:t>
            </a:r>
          </a:p>
          <a:p>
            <a:r>
              <a:rPr lang="es-CL" dirty="0"/>
              <a:t>Es preocupante la diferencia que hay entre los meses, además de que algunos vendedores no generan ingresos en determinadas fechas.</a:t>
            </a:r>
          </a:p>
        </p:txBody>
      </p:sp>
    </p:spTree>
    <p:extLst>
      <p:ext uri="{BB962C8B-B14F-4D97-AF65-F5344CB8AC3E}">
        <p14:creationId xmlns:p14="http://schemas.microsoft.com/office/powerpoint/2010/main" val="1445516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57E5CE-211A-BE10-7CD1-77BA6758E348}"/>
              </a:ext>
            </a:extLst>
          </p:cNvPr>
          <p:cNvSpPr>
            <a:spLocks noGrp="1"/>
          </p:cNvSpPr>
          <p:nvPr>
            <p:ph type="title"/>
          </p:nvPr>
        </p:nvSpPr>
        <p:spPr>
          <a:xfrm>
            <a:off x="643464" y="1050084"/>
            <a:ext cx="3517567" cy="741007"/>
          </a:xfrm>
          <a:ln>
            <a:solidFill>
              <a:schemeClr val="bg1"/>
            </a:solidFill>
          </a:ln>
        </p:spPr>
        <p:txBody>
          <a:bodyPr/>
          <a:lstStyle/>
          <a:p>
            <a:pPr algn="ctr"/>
            <a:r>
              <a:rPr lang="es-CL" noProof="0" dirty="0"/>
              <a:t>Hipótesis</a:t>
            </a:r>
          </a:p>
        </p:txBody>
      </p:sp>
      <p:sp>
        <p:nvSpPr>
          <p:cNvPr id="5" name="Marcador de fecha 4">
            <a:extLst>
              <a:ext uri="{FF2B5EF4-FFF2-40B4-BE49-F238E27FC236}">
                <a16:creationId xmlns:a16="http://schemas.microsoft.com/office/drawing/2014/main" id="{420A6905-8ECF-EB02-3570-3A2BD567BEE9}"/>
              </a:ext>
            </a:extLst>
          </p:cNvPr>
          <p:cNvSpPr>
            <a:spLocks noGrp="1"/>
          </p:cNvSpPr>
          <p:nvPr>
            <p:ph type="dt" sz="half" idx="10"/>
          </p:nvPr>
        </p:nvSpPr>
        <p:spPr/>
        <p:txBody>
          <a:bodyPr/>
          <a:lstStyle/>
          <a:p>
            <a:pPr rtl="0"/>
            <a:fld id="{F3EBED02-4679-462C-830F-722888DF8E2D}" type="datetime1">
              <a:rPr lang="es-CL" noProof="0" smtClean="0"/>
              <a:t>30-03-2026</a:t>
            </a:fld>
            <a:endParaRPr lang="es-CL" noProof="0" dirty="0"/>
          </a:p>
        </p:txBody>
      </p:sp>
      <p:sp>
        <p:nvSpPr>
          <p:cNvPr id="7" name="Título 1">
            <a:extLst>
              <a:ext uri="{FF2B5EF4-FFF2-40B4-BE49-F238E27FC236}">
                <a16:creationId xmlns:a16="http://schemas.microsoft.com/office/drawing/2014/main" id="{64F4225E-CECC-D3B9-A918-8C511B0D7600}"/>
              </a:ext>
            </a:extLst>
          </p:cNvPr>
          <p:cNvSpPr txBox="1">
            <a:spLocks/>
          </p:cNvSpPr>
          <p:nvPr/>
        </p:nvSpPr>
        <p:spPr>
          <a:xfrm>
            <a:off x="643464" y="3422250"/>
            <a:ext cx="3517567" cy="741007"/>
          </a:xfrm>
          <a:prstGeom prst="rect">
            <a:avLst/>
          </a:prstGeom>
          <a:ln>
            <a:solidFill>
              <a:schemeClr val="bg1"/>
            </a:solidFill>
          </a:ln>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sz="3600" b="0" i="0" kern="1200" spc="-50" baseline="0">
                <a:solidFill>
                  <a:srgbClr val="FFFFFF"/>
                </a:solidFill>
                <a:latin typeface="+mj-lt"/>
                <a:ea typeface="+mj-ea"/>
                <a:cs typeface="+mj-cs"/>
              </a:defRPr>
            </a:lvl1pPr>
          </a:lstStyle>
          <a:p>
            <a:pPr algn="ctr"/>
            <a:r>
              <a:rPr lang="es-CL" dirty="0"/>
              <a:t>Acciones a tomar</a:t>
            </a:r>
            <a:endParaRPr lang="es-CL" noProof="0" dirty="0"/>
          </a:p>
        </p:txBody>
      </p:sp>
      <p:sp>
        <p:nvSpPr>
          <p:cNvPr id="8" name="Rectangle 1">
            <a:extLst>
              <a:ext uri="{FF2B5EF4-FFF2-40B4-BE49-F238E27FC236}">
                <a16:creationId xmlns:a16="http://schemas.microsoft.com/office/drawing/2014/main" id="{6A98985D-0552-E754-8D71-94A1F7FD5667}"/>
              </a:ext>
            </a:extLst>
          </p:cNvPr>
          <p:cNvSpPr txBox="1">
            <a:spLocks noChangeArrowheads="1"/>
          </p:cNvSpPr>
          <p:nvPr/>
        </p:nvSpPr>
        <p:spPr bwMode="auto">
          <a:xfrm>
            <a:off x="5458983" y="479305"/>
            <a:ext cx="5735490" cy="1882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eaLnBrk="0" fontAlgn="base" hangingPunct="0">
              <a:lnSpc>
                <a:spcPct val="150000"/>
              </a:lnSpc>
              <a:spcBef>
                <a:spcPct val="0"/>
              </a:spcBef>
              <a:spcAft>
                <a:spcPct val="0"/>
              </a:spcAft>
              <a:buClrTx/>
              <a:buSzTx/>
              <a:buFontTx/>
              <a:buNone/>
            </a:pPr>
            <a:endParaRPr lang="es-CL" sz="2000" noProof="0" dirty="0">
              <a:solidFill>
                <a:schemeClr val="tx1"/>
              </a:solidFill>
            </a:endParaRPr>
          </a:p>
          <a:p>
            <a:pPr marL="0" indent="0" eaLnBrk="0" fontAlgn="base" hangingPunct="0">
              <a:lnSpc>
                <a:spcPct val="150000"/>
              </a:lnSpc>
              <a:spcBef>
                <a:spcPct val="0"/>
              </a:spcBef>
              <a:spcAft>
                <a:spcPct val="0"/>
              </a:spcAft>
              <a:buClrTx/>
              <a:buSzTx/>
              <a:buFontTx/>
              <a:buChar char="•"/>
            </a:pPr>
            <a:r>
              <a:rPr lang="es-CL" sz="2000" noProof="0" dirty="0">
                <a:solidFill>
                  <a:schemeClr val="tx1"/>
                </a:solidFill>
              </a:rPr>
              <a:t> Las metas podrían estar mal distribuidas.</a:t>
            </a:r>
          </a:p>
          <a:p>
            <a:pPr marL="0" indent="0" eaLnBrk="0" fontAlgn="base" hangingPunct="0">
              <a:lnSpc>
                <a:spcPct val="150000"/>
              </a:lnSpc>
              <a:spcBef>
                <a:spcPct val="0"/>
              </a:spcBef>
              <a:spcAft>
                <a:spcPct val="0"/>
              </a:spcAft>
              <a:buClrTx/>
              <a:buSzTx/>
              <a:buFontTx/>
              <a:buChar char="•"/>
            </a:pPr>
            <a:r>
              <a:rPr lang="es-CL" sz="2000" noProof="0" dirty="0">
                <a:solidFill>
                  <a:schemeClr val="tx1"/>
                </a:solidFill>
              </a:rPr>
              <a:t> Hay meses con baja demanda.</a:t>
            </a:r>
          </a:p>
          <a:p>
            <a:pPr marL="0" indent="0" eaLnBrk="0" fontAlgn="base" hangingPunct="0">
              <a:lnSpc>
                <a:spcPct val="150000"/>
              </a:lnSpc>
              <a:spcBef>
                <a:spcPct val="0"/>
              </a:spcBef>
              <a:spcAft>
                <a:spcPct val="0"/>
              </a:spcAft>
              <a:buClrTx/>
              <a:buSzTx/>
              <a:buFontTx/>
              <a:buChar char="•"/>
            </a:pPr>
            <a:r>
              <a:rPr lang="es-CL" sz="2000" noProof="0" dirty="0">
                <a:solidFill>
                  <a:schemeClr val="tx1"/>
                </a:solidFill>
              </a:rPr>
              <a:t> Algunos vendedores o regiones rinden menos. </a:t>
            </a:r>
          </a:p>
        </p:txBody>
      </p:sp>
      <p:sp>
        <p:nvSpPr>
          <p:cNvPr id="10" name="Rectangle 3">
            <a:extLst>
              <a:ext uri="{FF2B5EF4-FFF2-40B4-BE49-F238E27FC236}">
                <a16:creationId xmlns:a16="http://schemas.microsoft.com/office/drawing/2014/main" id="{54E5E81F-D705-1016-3069-15573FE87EC0}"/>
              </a:ext>
            </a:extLst>
          </p:cNvPr>
          <p:cNvSpPr>
            <a:spLocks noChangeArrowheads="1"/>
          </p:cNvSpPr>
          <p:nvPr/>
        </p:nvSpPr>
        <p:spPr bwMode="auto">
          <a:xfrm>
            <a:off x="5458983" y="2707189"/>
            <a:ext cx="5735489" cy="3729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s-CL" sz="2000" b="0" i="0" u="none" strike="noStrike" cap="none" normalizeH="0" baseline="0" noProof="0" dirty="0">
              <a:ln>
                <a:noFill/>
              </a:ln>
              <a:solidFill>
                <a:schemeClr val="tx1"/>
              </a:solidFill>
              <a:effectLst/>
            </a:endParaRPr>
          </a:p>
          <a:p>
            <a:pPr eaLnBrk="0" fontAlgn="base" hangingPunct="0">
              <a:lnSpc>
                <a:spcPct val="150000"/>
              </a:lnSpc>
              <a:spcBef>
                <a:spcPct val="0"/>
              </a:spcBef>
              <a:spcAft>
                <a:spcPct val="0"/>
              </a:spcAft>
              <a:buFontTx/>
              <a:buChar char="•"/>
            </a:pPr>
            <a:r>
              <a:rPr kumimoji="0" lang="es-CL" sz="2000" b="0" i="0" u="none" strike="noStrike" cap="none" normalizeH="0" baseline="0" noProof="0" dirty="0">
                <a:ln>
                  <a:noFill/>
                </a:ln>
                <a:solidFill>
                  <a:schemeClr val="tx1"/>
                </a:solidFill>
                <a:effectLst/>
              </a:rPr>
              <a:t> Ajustar las metas propuestas identificando las    fortalezas y debilidades de cada sucursal.</a:t>
            </a:r>
          </a:p>
          <a:p>
            <a:pPr eaLnBrk="0" fontAlgn="base" hangingPunct="0">
              <a:lnSpc>
                <a:spcPct val="150000"/>
              </a:lnSpc>
              <a:spcBef>
                <a:spcPct val="0"/>
              </a:spcBef>
              <a:spcAft>
                <a:spcPct val="0"/>
              </a:spcAft>
              <a:buFontTx/>
              <a:buChar char="•"/>
            </a:pPr>
            <a:r>
              <a:rPr kumimoji="0" lang="es-CL" sz="2000" b="0" i="0" u="none" strike="noStrike" cap="none" normalizeH="0" baseline="0" noProof="0" dirty="0">
                <a:ln>
                  <a:noFill/>
                </a:ln>
                <a:solidFill>
                  <a:schemeClr val="tx1"/>
                </a:solidFill>
                <a:effectLst/>
              </a:rPr>
              <a:t> Identificar meses críticos para realizar ajustes adecuadas para cada época del año.</a:t>
            </a:r>
          </a:p>
          <a:p>
            <a:pPr eaLnBrk="0" fontAlgn="base" hangingPunct="0">
              <a:lnSpc>
                <a:spcPct val="150000"/>
              </a:lnSpc>
              <a:spcBef>
                <a:spcPct val="0"/>
              </a:spcBef>
              <a:spcAft>
                <a:spcPct val="0"/>
              </a:spcAft>
              <a:buFontTx/>
              <a:buChar char="•"/>
            </a:pPr>
            <a:r>
              <a:rPr kumimoji="0" lang="es-CL" sz="2000" b="0" i="0" u="none" strike="noStrike" cap="none" normalizeH="0" baseline="0" noProof="0" dirty="0">
                <a:ln>
                  <a:noFill/>
                </a:ln>
                <a:solidFill>
                  <a:schemeClr val="tx1"/>
                </a:solidFill>
                <a:effectLst/>
              </a:rPr>
              <a:t> Mejorar estrategia comercial de cada tipo de producto, generando oportunidades de mayores ingresos.</a:t>
            </a:r>
          </a:p>
        </p:txBody>
      </p:sp>
      <p:pic>
        <p:nvPicPr>
          <p:cNvPr id="3074" name="Picture 2" descr="Imagen cargada">
            <a:extLst>
              <a:ext uri="{FF2B5EF4-FFF2-40B4-BE49-F238E27FC236}">
                <a16:creationId xmlns:a16="http://schemas.microsoft.com/office/drawing/2014/main" id="{D3AA8585-A1E2-DA54-7221-16DD48C6294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1500"/>
                    </a14:imgEffect>
                  </a14:imgLayer>
                </a14:imgProps>
              </a:ext>
              <a:ext uri="{28A0092B-C50C-407E-A947-70E740481C1C}">
                <a14:useLocalDpi xmlns:a14="http://schemas.microsoft.com/office/drawing/2010/main" val="0"/>
              </a:ext>
            </a:extLst>
          </a:blip>
          <a:srcRect/>
          <a:stretch>
            <a:fillRect/>
          </a:stretch>
        </p:blipFill>
        <p:spPr bwMode="auto">
          <a:xfrm>
            <a:off x="1331692" y="1420587"/>
            <a:ext cx="2141108" cy="214110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n cargada">
            <a:extLst>
              <a:ext uri="{FF2B5EF4-FFF2-40B4-BE49-F238E27FC236}">
                <a16:creationId xmlns:a16="http://schemas.microsoft.com/office/drawing/2014/main" id="{FBC143C2-23B1-C44D-E8E6-8FD25B4DAB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0241" y="4163257"/>
            <a:ext cx="1784009" cy="1784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938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B80FE-2C77-174D-1D20-064619E21CD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D4894A-68EA-603A-07CB-D5C6A1D59FFD}"/>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s-CL" noProof="0" dirty="0"/>
              <a:t>Resumen de recomendaciones</a:t>
            </a:r>
          </a:p>
        </p:txBody>
      </p:sp>
      <p:pic>
        <p:nvPicPr>
          <p:cNvPr id="1027" name="Picture 3" descr="Imagen cargada">
            <a:extLst>
              <a:ext uri="{FF2B5EF4-FFF2-40B4-BE49-F238E27FC236}">
                <a16:creationId xmlns:a16="http://schemas.microsoft.com/office/drawing/2014/main" id="{887B74CB-E7D6-7C73-2501-9948A18BCA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360" r="825" b="1"/>
          <a:stretch>
            <a:fillRect/>
          </a:stretch>
        </p:blipFill>
        <p:spPr bwMode="auto">
          <a:xfrm>
            <a:off x="1097280" y="2120901"/>
            <a:ext cx="4639736" cy="3748193"/>
          </a:xfrm>
          <a:prstGeom prst="rect">
            <a:avLst/>
          </a:prstGeom>
          <a:solidFill>
            <a:srgbClr val="FFFFFF"/>
          </a:solidFill>
        </p:spPr>
      </p:pic>
      <p:sp>
        <p:nvSpPr>
          <p:cNvPr id="3" name="Rectangle 1">
            <a:extLst>
              <a:ext uri="{FF2B5EF4-FFF2-40B4-BE49-F238E27FC236}">
                <a16:creationId xmlns:a16="http://schemas.microsoft.com/office/drawing/2014/main" id="{EC667519-20D4-E0DF-C26F-DFA685732D87}"/>
              </a:ext>
            </a:extLst>
          </p:cNvPr>
          <p:cNvSpPr>
            <a:spLocks noChangeArrowheads="1"/>
          </p:cNvSpPr>
          <p:nvPr/>
        </p:nvSpPr>
        <p:spPr bwMode="auto">
          <a:xfrm>
            <a:off x="6515944" y="2120900"/>
            <a:ext cx="4865418" cy="374819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45720" rIns="0" bIns="45720" numCol="1" rtlCol="0" anchorCtr="0" compatLnSpc="1">
            <a:prstTxWarp prst="textNoShape">
              <a:avLst/>
            </a:prstTxWarp>
            <a:normAutofit/>
          </a:bodyPr>
          <a:lstStyle/>
          <a:p>
            <a:pPr marL="91440" marR="0" lvl="0" indent="-91440" fontAlgn="base">
              <a:spcBef>
                <a:spcPts val="1200"/>
              </a:spcBef>
              <a:spcAft>
                <a:spcPts val="200"/>
              </a:spcAft>
              <a:buClr>
                <a:schemeClr val="accent1"/>
              </a:buClr>
              <a:buSzPct val="100000"/>
              <a:buFont typeface="Calibri" panose="020F0502020204030204" pitchFamily="34" charset="0"/>
              <a:buChar char=" "/>
              <a:tabLst/>
            </a:pPr>
            <a:endParaRPr kumimoji="0" lang="es-CL" sz="1900" b="0" i="0" u="none" strike="noStrike" cap="none" normalizeH="0" baseline="0" noProof="0" dirty="0">
              <a:ln>
                <a:noFill/>
              </a:ln>
              <a:solidFill>
                <a:schemeClr val="tx1">
                  <a:lumMod val="75000"/>
                  <a:lumOff val="25000"/>
                </a:schemeClr>
              </a:solidFill>
              <a:effectLst/>
            </a:endParaRPr>
          </a:p>
          <a:p>
            <a:pPr marL="342900" marR="0" lvl="0" indent="-342900" fontAlgn="base">
              <a:spcBef>
                <a:spcPts val="1200"/>
              </a:spcBef>
              <a:spcAft>
                <a:spcPts val="200"/>
              </a:spcAft>
              <a:buClr>
                <a:schemeClr val="accent1"/>
              </a:buClr>
              <a:buSzPct val="100000"/>
              <a:buFont typeface="Arial" panose="020B0604020202020204" pitchFamily="34" charset="0"/>
              <a:buChar char="•"/>
              <a:tabLst/>
            </a:pPr>
            <a:r>
              <a:rPr kumimoji="0" lang="es-CL" sz="2000" b="0" i="0" u="none" strike="noStrike" cap="none" normalizeH="0" baseline="0" noProof="0" dirty="0">
                <a:ln>
                  <a:noFill/>
                </a:ln>
                <a:solidFill>
                  <a:schemeClr val="tx1">
                    <a:lumMod val="75000"/>
                    <a:lumOff val="25000"/>
                  </a:schemeClr>
                </a:solidFill>
                <a:effectLst/>
              </a:rPr>
              <a:t> Ajustar las metas por estacionalidad.</a:t>
            </a:r>
          </a:p>
          <a:p>
            <a:pPr marL="342900" marR="0" lvl="0" indent="-342900" fontAlgn="base">
              <a:spcBef>
                <a:spcPts val="1200"/>
              </a:spcBef>
              <a:spcAft>
                <a:spcPts val="200"/>
              </a:spcAft>
              <a:buClr>
                <a:schemeClr val="accent1"/>
              </a:buClr>
              <a:buSzPct val="100000"/>
              <a:buFont typeface="Arial" panose="020B0604020202020204" pitchFamily="34" charset="0"/>
              <a:buChar char="•"/>
              <a:tabLst/>
            </a:pPr>
            <a:r>
              <a:rPr kumimoji="0" lang="es-CL" sz="2000" b="0" i="0" u="none" strike="noStrike" cap="none" normalizeH="0" baseline="0" noProof="0" dirty="0">
                <a:ln>
                  <a:noFill/>
                </a:ln>
                <a:solidFill>
                  <a:schemeClr val="tx1">
                    <a:lumMod val="75000"/>
                    <a:lumOff val="25000"/>
                  </a:schemeClr>
                </a:solidFill>
                <a:effectLst/>
              </a:rPr>
              <a:t> Enfocar mayores esfuerzos en meses</a:t>
            </a:r>
            <a:r>
              <a:rPr lang="es-CL" sz="2000" noProof="0" dirty="0">
                <a:solidFill>
                  <a:schemeClr val="tx1">
                    <a:lumMod val="75000"/>
                    <a:lumOff val="25000"/>
                  </a:schemeClr>
                </a:solidFill>
              </a:rPr>
              <a:t> con índices más</a:t>
            </a:r>
            <a:r>
              <a:rPr kumimoji="0" lang="es-CL" sz="2000" b="0" i="0" u="none" strike="noStrike" cap="none" normalizeH="0" baseline="0" noProof="0" dirty="0">
                <a:ln>
                  <a:noFill/>
                </a:ln>
                <a:solidFill>
                  <a:schemeClr val="tx1">
                    <a:lumMod val="75000"/>
                    <a:lumOff val="25000"/>
                  </a:schemeClr>
                </a:solidFill>
                <a:effectLst/>
              </a:rPr>
              <a:t> débiles.</a:t>
            </a:r>
          </a:p>
          <a:p>
            <a:pPr marL="342900" marR="0" lvl="0" indent="-342900" fontAlgn="base">
              <a:spcBef>
                <a:spcPts val="1200"/>
              </a:spcBef>
              <a:spcAft>
                <a:spcPts val="200"/>
              </a:spcAft>
              <a:buClr>
                <a:schemeClr val="accent1"/>
              </a:buClr>
              <a:buSzPct val="100000"/>
              <a:buFont typeface="Arial" panose="020B0604020202020204" pitchFamily="34" charset="0"/>
              <a:buChar char="•"/>
              <a:tabLst/>
            </a:pPr>
            <a:r>
              <a:rPr kumimoji="0" lang="es-CL" sz="2000" b="0" i="0" u="none" strike="noStrike" cap="none" normalizeH="0" baseline="0" noProof="0" dirty="0">
                <a:ln>
                  <a:noFill/>
                </a:ln>
                <a:solidFill>
                  <a:schemeClr val="tx1">
                    <a:lumMod val="75000"/>
                    <a:lumOff val="25000"/>
                  </a:schemeClr>
                </a:solidFill>
                <a:effectLst/>
              </a:rPr>
              <a:t> Analizar el desempeño por cada vendedor/región.</a:t>
            </a:r>
          </a:p>
          <a:p>
            <a:pPr marL="342900" marR="0" lvl="0" indent="-342900" fontAlgn="base">
              <a:spcBef>
                <a:spcPts val="1200"/>
              </a:spcBef>
              <a:spcAft>
                <a:spcPts val="200"/>
              </a:spcAft>
              <a:buClr>
                <a:schemeClr val="accent1"/>
              </a:buClr>
              <a:buSzPct val="100000"/>
              <a:buFont typeface="Arial" panose="020B0604020202020204" pitchFamily="34" charset="0"/>
              <a:buChar char="•"/>
              <a:tabLst/>
            </a:pPr>
            <a:r>
              <a:rPr lang="es-CL" sz="2000" dirty="0">
                <a:solidFill>
                  <a:schemeClr val="tx1">
                    <a:lumMod val="75000"/>
                    <a:lumOff val="25000"/>
                  </a:schemeClr>
                </a:solidFill>
              </a:rPr>
              <a:t>Si desea poder resolver todas estas problemáticas de forma eficiente acuda a nosotros.</a:t>
            </a:r>
            <a:endParaRPr kumimoji="0" lang="es-CL" sz="2000" b="0" i="0" u="none" strike="noStrike" cap="none" normalizeH="0" baseline="0" noProof="0" dirty="0">
              <a:ln>
                <a:noFill/>
              </a:ln>
              <a:solidFill>
                <a:schemeClr val="tx1">
                  <a:lumMod val="75000"/>
                  <a:lumOff val="25000"/>
                </a:schemeClr>
              </a:solidFill>
              <a:effectLst/>
            </a:endParaRPr>
          </a:p>
        </p:txBody>
      </p:sp>
      <p:sp>
        <p:nvSpPr>
          <p:cNvPr id="5" name="Marcador de fecha 4">
            <a:extLst>
              <a:ext uri="{FF2B5EF4-FFF2-40B4-BE49-F238E27FC236}">
                <a16:creationId xmlns:a16="http://schemas.microsoft.com/office/drawing/2014/main" id="{C730CBA8-60C4-2DA9-E516-CCC4DBF25C55}"/>
              </a:ext>
            </a:extLst>
          </p:cNvPr>
          <p:cNvSpPr>
            <a:spLocks noGrp="1"/>
          </p:cNvSpPr>
          <p:nvPr>
            <p:ph type="dt" sz="half" idx="10"/>
          </p:nvPr>
        </p:nvSpPr>
        <p:spPr>
          <a:xfrm>
            <a:off x="8218426" y="6446838"/>
            <a:ext cx="2584850" cy="365125"/>
          </a:xfrm>
        </p:spPr>
        <p:txBody>
          <a:bodyPr vert="horz" lIns="91440" tIns="45720" rIns="91440" bIns="45720" rtlCol="0" anchor="ctr">
            <a:normAutofit/>
          </a:bodyPr>
          <a:lstStyle/>
          <a:p>
            <a:pPr>
              <a:spcAft>
                <a:spcPts val="600"/>
              </a:spcAft>
            </a:pPr>
            <a:fld id="{F3EBED02-4679-462C-830F-722888DF8E2D}" type="datetime1">
              <a:rPr lang="es-CL" noProof="0" smtClean="0"/>
              <a:pPr>
                <a:spcAft>
                  <a:spcPts val="600"/>
                </a:spcAft>
              </a:pPr>
              <a:t>30-03-2026</a:t>
            </a:fld>
            <a:endParaRPr lang="es-CL" noProof="0" dirty="0"/>
          </a:p>
        </p:txBody>
      </p:sp>
    </p:spTree>
    <p:extLst>
      <p:ext uri="{BB962C8B-B14F-4D97-AF65-F5344CB8AC3E}">
        <p14:creationId xmlns:p14="http://schemas.microsoft.com/office/powerpoint/2010/main" val="3439729339"/>
      </p:ext>
    </p:extLst>
  </p:cSld>
  <p:clrMapOvr>
    <a:masterClrMapping/>
  </p:clrMapOvr>
</p:sld>
</file>

<file path=ppt/theme/theme1.xml><?xml version="1.0" encoding="utf-8"?>
<a:theme xmlns:a="http://schemas.openxmlformats.org/drawingml/2006/main" name="Personalizado">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_41799055_TF56160789" id="{80AA9D2D-EE59-4148-A11E-A51EEE828B28}" vid="{AEAFD717-D3C8-4034-8F7E-D5220B0CCEB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{C1AF3B3A-E8FB-4FBA-9DCA-8F27AE1D90DE}TFf0a5ceae-4542-492d-822e-d65a94fb0e1ed91c9099_win32-ce6bb8b1e531</Template>
  <TotalTime>151</TotalTime>
  <Words>584</Words>
  <Application>Microsoft Office PowerPoint</Application>
  <PresentationFormat>Panorámica</PresentationFormat>
  <Paragraphs>52</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Bookman Old Style</vt:lpstr>
      <vt:lpstr>Calibri</vt:lpstr>
      <vt:lpstr>Franklin Gothic Book</vt:lpstr>
      <vt:lpstr>Personalizado</vt:lpstr>
      <vt:lpstr>Análisis comercial SHOPAIN 2024</vt:lpstr>
      <vt:lpstr>Presentación de PowerPoint</vt:lpstr>
      <vt:lpstr>“Las ventas del 2024 no están cumpliendo las metas establecidas (84%) y muestran variaciones mensuales respecto al 2023, lo que sugiere problemas en la consistencia del rendimiento comercial.”</vt:lpstr>
      <vt:lpstr>Presentación de PowerPoint</vt:lpstr>
      <vt:lpstr>Presentación de PowerPoint</vt:lpstr>
      <vt:lpstr>Presentación de PowerPoint</vt:lpstr>
      <vt:lpstr>Presentación de PowerPoint</vt:lpstr>
      <vt:lpstr>Presentación de PowerPoint</vt:lpstr>
      <vt:lpstr>Hipótesis</vt:lpstr>
      <vt:lpstr>Resumen de recomendaciones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196483187</dc:creator>
  <cp:lastModifiedBy>196483187</cp:lastModifiedBy>
  <cp:revision>6</cp:revision>
  <dcterms:created xsi:type="dcterms:W3CDTF">2026-03-29T19:37:57Z</dcterms:created>
  <dcterms:modified xsi:type="dcterms:W3CDTF">2026-03-30T12:42:09Z</dcterms:modified>
</cp:coreProperties>
</file>